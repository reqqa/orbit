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Inter" panose="02000503000000020004" pitchFamily="3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391142"/>
          </a:xfrm>
          <a:prstGeom prst="rect">
            <a:avLst/>
          </a:prstGeom>
          <a:noFill/>
          <a:ln/>
        </p:spPr>
        <p:txBody>
          <a:bodyPr wrap="square" lIns="0" tIns="0" rIns="0" bIns="0" rtlCol="0" anchor="t"/>
          <a:lstStyle>
            <a:lvl1pPr algn="l" indent="0" marL="0">
              <a:lnSpc>
                <a:spcPct val="115000"/>
              </a:lnSpc>
              <a:buNone/>
              <a:defRPr lang="en-US" sz="2800" dirty="0">
                <a:solidFill>
                  <a:srgbClr val="4338CA"/>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08742"/>
            <a:ext cx="10566400" cy="4536458"/>
          </a:xfrm>
          <a:prstGeom prst="rect">
            <a:avLst/>
          </a:prstGeom>
          <a:noFill/>
          <a:ln/>
        </p:spPr>
        <p:txBody>
          <a:bodyPr wrap="square" lIns="0" tIns="0" rIns="0" bIns="0" rtlCol="0" anchor="t"/>
          <a:lstStyle>
            <a:lvl1pPr algn="l" indent="0" marL="0">
              <a:lnSpc>
                <a:spcPct val="140000"/>
              </a:lnSpc>
              <a:buNone/>
              <a:defRPr lang="en-US" sz="1600" dirty="0">
                <a:solidFill>
                  <a:srgbClr val="4338C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391142"/>
          </a:xfrm>
          <a:prstGeom prst="rect">
            <a:avLst/>
          </a:prstGeom>
          <a:noFill/>
          <a:ln/>
        </p:spPr>
        <p:txBody>
          <a:bodyPr wrap="square" lIns="0" tIns="0" rIns="0" bIns="0" rtlCol="0" anchor="t"/>
          <a:lstStyle>
            <a:lvl1pPr algn="l" indent="0" marL="0">
              <a:lnSpc>
                <a:spcPct val="115000"/>
              </a:lnSpc>
              <a:buNone/>
              <a:defRPr lang="en-US" sz="2800" dirty="0">
                <a:solidFill>
                  <a:srgbClr val="4338CA"/>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08742"/>
            <a:ext cx="10566400" cy="4536458"/>
          </a:xfrm>
          <a:prstGeom prst="rect">
            <a:avLst/>
          </a:prstGeom>
          <a:noFill/>
          <a:ln/>
        </p:spPr>
        <p:txBody>
          <a:bodyPr wrap="square" lIns="0" tIns="0" rIns="0" bIns="0" rtlCol="0" anchor="t"/>
          <a:lstStyle>
            <a:lvl1pPr algn="l" indent="0" marL="0">
              <a:lnSpc>
                <a:spcPct val="140000"/>
              </a:lnSpc>
              <a:buNone/>
              <a:defRPr lang="en-US" sz="1600" dirty="0">
                <a:solidFill>
                  <a:srgbClr val="4338C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3A"/>
        </a:solidFill>
      </p:bgPr>
    </p:bg>
    <p:spTree>
      <p:nvGrpSpPr>
        <p:cNvPr id="1" name=""/>
        <p:cNvGrpSpPr/>
        <p:nvPr/>
      </p:nvGrpSpPr>
      <p:grpSpPr>
        <a:xfrm>
          <a:off x="0" y="0"/>
          <a:ext cx="0" cy="0"/>
          <a:chOff x="0" y="0"/>
          <a:chExt cx="0" cy="0"/>
        </a:xfrm>
      </p:grpSpPr>
      <p:pic>
        <p:nvPicPr>
          <p:cNvPr id="2" name="Image 0" descr="Orbit rings graphic">    </p:cNvPr>
          <p:cNvPicPr>
            <a:picLocks noChangeAspect="1"/>
          </p:cNvPicPr>
          <p:nvPr/>
        </p:nvPicPr>
        <p:blipFill>
          <a:blip r:embed="rId1"/>
          <a:srcRect l="0" r="0" t="0" b="0"/>
          <a:stretch/>
        </p:blipFill>
        <p:spPr>
          <a:xfrm>
            <a:off x="8077200" y="1270000"/>
            <a:ext cx="3302000" cy="3302000"/>
          </a:xfrm>
          <a:prstGeom prst="rect">
            <a:avLst/>
          </a:prstGeom>
        </p:spPr>
      </p:pic>
      <p:sp>
        <p:nvSpPr>
          <p:cNvPr id="3" name="Text 0"/>
          <p:cNvSpPr/>
          <p:nvPr/>
        </p:nvSpPr>
        <p:spPr>
          <a:xfrm>
            <a:off x="812800" y="8128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544"/>
                </a:solidFill>
                <a:latin typeface="Inter" pitchFamily="34" charset="0"/>
                <a:ea typeface="Inter" pitchFamily="34" charset="-122"/>
                <a:cs typeface="Inter" pitchFamily="34" charset="-120"/>
              </a:rPr>
              <a:t>S.D.C. HACKATHON 2026 · DOMAIN 2 · ORBYTE SMART SME CHALLENGE</a:t>
            </a:r>
            <a:endParaRPr lang="en-US" sz="1300" dirty="0"/>
          </a:p>
        </p:txBody>
      </p:sp>
      <p:sp>
        <p:nvSpPr>
          <p:cNvPr id="4" name="Text 1"/>
          <p:cNvSpPr/>
          <p:nvPr>
            <p:ph type="title"/>
          </p:nvPr>
        </p:nvSpPr>
        <p:spPr>
          <a:xfrm>
            <a:off x="812800" y="2123546"/>
            <a:ext cx="6867525" cy="1143000"/>
          </a:xfrm>
          <a:prstGeom prst="rect">
            <a:avLst/>
          </a:prstGeom>
          <a:noFill/>
          <a:ln/>
        </p:spPr>
        <p:txBody>
          <a:bodyPr wrap="square" lIns="0" tIns="0" rIns="0" bIns="0" rtlCol="0" anchor="t">
            <a:normAutofit/>
          </a:bodyPr>
          <a:lstStyle/>
          <a:p>
            <a:pPr algn="l" indent="0" marL="0">
              <a:lnSpc>
                <a:spcPts val="8800"/>
              </a:lnSpc>
              <a:buNone/>
            </a:pPr>
            <a:r>
              <a:rPr lang="en-US" sz="8800" b="1" i="0" dirty="0">
                <a:solidFill>
                  <a:srgbClr val="EEF0FF"/>
                </a:solidFill>
                <a:latin typeface="Inter" pitchFamily="34" charset="0"/>
                <a:ea typeface="Inter" pitchFamily="34" charset="-122"/>
                <a:cs typeface="Inter" pitchFamily="34" charset="-120"/>
              </a:rPr>
              <a:t>Orbit</a:t>
            </a:r>
            <a:endParaRPr lang="en-US" sz="8800" dirty="0"/>
          </a:p>
        </p:txBody>
      </p:sp>
      <p:sp>
        <p:nvSpPr>
          <p:cNvPr id="5" name="Text 2"/>
          <p:cNvSpPr/>
          <p:nvPr/>
        </p:nvSpPr>
        <p:spPr>
          <a:xfrm>
            <a:off x="812800" y="3368146"/>
            <a:ext cx="6867525" cy="434269"/>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EEF0FF"/>
                </a:solidFill>
                <a:latin typeface="Inter" pitchFamily="34" charset="0"/>
                <a:ea typeface="Inter" pitchFamily="34" charset="-122"/>
                <a:cs typeface="Inter" pitchFamily="34" charset="-120"/>
              </a:rPr>
              <a:t>Stop chasing receipts on WhatsApp.</a:t>
            </a:r>
            <a:endParaRPr lang="en-US" sz="2800" dirty="0"/>
          </a:p>
        </p:txBody>
      </p:sp>
      <p:sp>
        <p:nvSpPr>
          <p:cNvPr id="6" name="Text 3"/>
          <p:cNvSpPr/>
          <p:nvPr/>
        </p:nvSpPr>
        <p:spPr>
          <a:xfrm>
            <a:off x="812800" y="3904015"/>
            <a:ext cx="6867525" cy="57396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A8AFD6"/>
                </a:solidFill>
                <a:latin typeface="Inter" pitchFamily="34" charset="0"/>
                <a:ea typeface="Inter" pitchFamily="34" charset="-122"/>
                <a:cs typeface="Inter" pitchFamily="34" charset="-120"/>
              </a:rPr>
              <a:t>Payment reconciliation for the Orbyte hub: receipt in, invoice matched, owner approves, ledger updated.</a:t>
            </a:r>
            <a:endParaRPr lang="en-US" sz="1600" dirty="0"/>
          </a:p>
        </p:txBody>
      </p:sp>
      <p:sp>
        <p:nvSpPr>
          <p:cNvPr id="7" name="Text 4"/>
          <p:cNvSpPr/>
          <p:nvPr/>
        </p:nvSpPr>
        <p:spPr>
          <a:xfrm>
            <a:off x="812800" y="5532261"/>
            <a:ext cx="10883392"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EF0FF"/>
                </a:solidFill>
                <a:latin typeface="Inter" pitchFamily="34" charset="0"/>
                <a:ea typeface="Inter" pitchFamily="34" charset="-122"/>
                <a:cs typeface="Inter" pitchFamily="34" charset="-120"/>
              </a:rPr>
              <a:t>[ADD: Team name] · [ADD: University]</a:t>
            </a:r>
            <a:endParaRPr lang="en-US" sz="1300" dirty="0"/>
          </a:p>
        </p:txBody>
      </p:sp>
      <p:sp>
        <p:nvSpPr>
          <p:cNvPr id="8" name="Text 5"/>
          <p:cNvSpPr/>
          <p:nvPr/>
        </p:nvSpPr>
        <p:spPr>
          <a:xfrm>
            <a:off x="812800" y="5814131"/>
            <a:ext cx="10883392"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8AFD6"/>
                </a:solidFill>
                <a:latin typeface="Inter" pitchFamily="34" charset="0"/>
                <a:ea typeface="Inter" pitchFamily="34" charset="-122"/>
                <a:cs typeface="Inter" pitchFamily="34" charset="-120"/>
              </a:rPr>
              <a:t>[ADD: GitHub repo link] · [ADD: demo video link]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
        <p:nvSpPr>
          <p:cNvPr id="3" name="Text 1"/>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Team Information</a:t>
            </a:r>
            <a:endParaRPr lang="en-US" sz="2800" dirty="0"/>
          </a:p>
        </p:txBody>
      </p:sp>
      <p:sp>
        <p:nvSpPr>
          <p:cNvPr id="4" name="Text 2"/>
          <p:cNvSpPr/>
          <p:nvPr/>
        </p:nvSpPr>
        <p:spPr>
          <a:xfrm>
            <a:off x="812800" y="1305543"/>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Who is behind Orbit.</a:t>
            </a:r>
            <a:endParaRPr lang="en-US" sz="1800" dirty="0"/>
          </a:p>
        </p:txBody>
      </p:sp>
      <p:sp>
        <p:nvSpPr>
          <p:cNvPr id="5" name="Shape 3"/>
          <p:cNvSpPr/>
          <p:nvPr/>
        </p:nvSpPr>
        <p:spPr>
          <a:xfrm>
            <a:off x="815975" y="1831975"/>
            <a:ext cx="10560050" cy="3099858"/>
          </a:xfrm>
          <a:prstGeom prst="roundRect">
            <a:avLst>
              <a:gd name="adj" fmla="val 3175"/>
            </a:avLst>
          </a:prstGeom>
          <a:solidFill>
            <a:srgbClr val="FFFFFF"/>
          </a:solidFill>
          <a:ln w="6350">
            <a:solidFill>
              <a:srgbClr val="E2DDD0"/>
            </a:solidFill>
            <a:prstDash val="solid"/>
          </a:ln>
        </p:spPr>
      </p:sp>
      <p:sp>
        <p:nvSpPr>
          <p:cNvPr id="6" name="Text 4"/>
          <p:cNvSpPr/>
          <p:nvPr/>
        </p:nvSpPr>
        <p:spPr>
          <a:xfrm>
            <a:off x="1021644" y="2037645"/>
            <a:ext cx="10453173"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Members (2–5)</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2933" y="2356203"/>
          <a:ext cx="10137423" cy="2100792"/>
        </p:xfrm>
        <a:graphic>
          <a:graphicData uri="http://schemas.openxmlformats.org/drawingml/2006/table">
            <a:tbl>
              <a:tblPr/>
              <a:tblGrid>
                <a:gridCol w="5068711"/>
                <a:gridCol w="5068711"/>
              </a:tblGrid>
              <a:tr h="420158">
                <a:tc>
                  <a:txBody>
                    <a:bodyPr/>
                    <a:lstStyle/>
                    <a:p>
                      <a:pPr indent="0" marL="0">
                        <a:lnSpc>
                          <a:spcPts val="1820"/>
                        </a:lnSpc>
                        <a:buNone/>
                      </a:pPr>
                      <a:r>
                        <a:rPr lang="en-US" sz="1300" b="1" dirty="0">
                          <a:solidFill>
                            <a:srgbClr val="5A607A"/>
                          </a:solidFill>
                          <a:latin typeface="Inter" pitchFamily="34" charset="0"/>
                          <a:ea typeface="Inter" pitchFamily="34" charset="-122"/>
                          <a:cs typeface="Inter" pitchFamily="34" charset="-120"/>
                        </a:rPr>
                        <a:t>Member</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5A607A"/>
                          </a:solidFill>
                          <a:latin typeface="Inter" pitchFamily="34" charset="0"/>
                          <a:ea typeface="Inter" pitchFamily="34" charset="-122"/>
                          <a:cs typeface="Inter" pitchFamily="34" charset="-120"/>
                        </a:rPr>
                        <a:t>Name and role</a:t>
                      </a:r>
                      <a:endParaRPr lang="en-US" sz="1300" dirty="0">
                        <a:latin typeface="Inter" charset="0"/>
                        <a:ea typeface="Inter" charset="0"/>
                        <a:cs typeface="Inter" charset="0"/>
                      </a:endParaRPr>
                    </a:p>
                  </a:txBody>
                  <a:tcPr marL="127000" marR="127000" marT="88900" marB="889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20158">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Member 1 (Leader) </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Tharmunieshwar / Lead AI Engineer</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0158">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Member 2</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Casimir Chiong / Implementation </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0158">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Member 3</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Shau Loon / Backend Engineer</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0158">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Member 4</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Gwee Jee See / Video and Slides</a:t>
                      </a:r>
                      <a:endParaRPr lang="en-US" sz="13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1021644" y="4520495"/>
            <a:ext cx="10453173" cy="23106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7A"/>
                </a:solidFill>
                <a:latin typeface="Inter" pitchFamily="34" charset="0"/>
                <a:ea typeface="Inter" pitchFamily="34" charset="-122"/>
                <a:cs typeface="Inter" pitchFamily="34" charset="-120"/>
              </a:rPr>
              <a:t>Delete any unused member. One person can hold two roles.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1. The Problem &amp; Target User</a:t>
            </a:r>
            <a:endParaRPr lang="en-US" sz="2800" dirty="0"/>
          </a:p>
        </p:txBody>
      </p:sp>
      <p:sp>
        <p:nvSpPr>
          <p:cNvPr id="3" name="Text 1"/>
          <p:cNvSpPr/>
          <p:nvPr/>
        </p:nvSpPr>
        <p:spPr>
          <a:xfrm>
            <a:off x="812800" y="1305542"/>
            <a:ext cx="10883392" cy="619654"/>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Malaysian SMEs get paid through WhatsApp screenshots, and the owner reconciles each one by hand.</a:t>
            </a:r>
            <a:endParaRPr lang="en-US" sz="1800" dirty="0"/>
          </a:p>
        </p:txBody>
      </p:sp>
      <p:sp>
        <p:nvSpPr>
          <p:cNvPr id="4" name="Shape 2"/>
          <p:cNvSpPr/>
          <p:nvPr/>
        </p:nvSpPr>
        <p:spPr>
          <a:xfrm>
            <a:off x="815975" y="2131572"/>
            <a:ext cx="3397250" cy="1222816"/>
          </a:xfrm>
          <a:prstGeom prst="roundRect">
            <a:avLst>
              <a:gd name="adj" fmla="val 8049"/>
            </a:avLst>
          </a:prstGeom>
          <a:solidFill>
            <a:srgbClr val="FFFFFF"/>
          </a:solidFill>
          <a:ln w="6350">
            <a:solidFill>
              <a:srgbClr val="E2DDD0"/>
            </a:solidFill>
            <a:prstDash val="solid"/>
          </a:ln>
        </p:spPr>
      </p:sp>
      <p:sp>
        <p:nvSpPr>
          <p:cNvPr id="5" name="Text 3"/>
          <p:cNvSpPr/>
          <p:nvPr/>
        </p:nvSpPr>
        <p:spPr>
          <a:xfrm>
            <a:off x="996244" y="2311842"/>
            <a:ext cx="3127812" cy="41654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4338CA"/>
                </a:solidFill>
                <a:latin typeface="Inter" pitchFamily="34" charset="0"/>
                <a:ea typeface="Inter" pitchFamily="34" charset="-122"/>
                <a:cs typeface="Inter" pitchFamily="34" charset="-120"/>
              </a:rPr>
              <a:t>2–4 min</a:t>
            </a:r>
            <a:endParaRPr lang="en-US" sz="2800" dirty="0"/>
          </a:p>
        </p:txBody>
      </p:sp>
      <p:sp>
        <p:nvSpPr>
          <p:cNvPr id="6" name="Text 4"/>
          <p:cNvSpPr/>
          <p:nvPr/>
        </p:nvSpPr>
        <p:spPr>
          <a:xfrm>
            <a:off x="996244" y="2728384"/>
            <a:ext cx="3127812"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per receipt: open the chat, read it, check the invoice, key it in, reply</a:t>
            </a:r>
            <a:endParaRPr lang="en-US" sz="1300" dirty="0"/>
          </a:p>
        </p:txBody>
      </p:sp>
      <p:sp>
        <p:nvSpPr>
          <p:cNvPr id="7" name="Shape 5"/>
          <p:cNvSpPr/>
          <p:nvPr/>
        </p:nvSpPr>
        <p:spPr>
          <a:xfrm>
            <a:off x="4397375" y="2131572"/>
            <a:ext cx="3397250" cy="1222816"/>
          </a:xfrm>
          <a:prstGeom prst="roundRect">
            <a:avLst>
              <a:gd name="adj" fmla="val 8049"/>
            </a:avLst>
          </a:prstGeom>
          <a:solidFill>
            <a:srgbClr val="FFFFFF"/>
          </a:solidFill>
          <a:ln w="6350">
            <a:solidFill>
              <a:srgbClr val="E2DDD0"/>
            </a:solidFill>
            <a:prstDash val="solid"/>
          </a:ln>
        </p:spPr>
      </p:sp>
      <p:sp>
        <p:nvSpPr>
          <p:cNvPr id="8" name="Text 6"/>
          <p:cNvSpPr/>
          <p:nvPr/>
        </p:nvSpPr>
        <p:spPr>
          <a:xfrm>
            <a:off x="4577645" y="2311842"/>
            <a:ext cx="3127812" cy="41654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4338CA"/>
                </a:solidFill>
                <a:latin typeface="Inter" pitchFamily="34" charset="0"/>
                <a:ea typeface="Inter" pitchFamily="34" charset="-122"/>
                <a:cs typeface="Inter" pitchFamily="34" charset="-120"/>
              </a:rPr>
              <a:t>4–8 h</a:t>
            </a:r>
            <a:endParaRPr lang="en-US" sz="2800" dirty="0"/>
          </a:p>
        </p:txBody>
      </p:sp>
      <p:sp>
        <p:nvSpPr>
          <p:cNvPr id="9" name="Text 7"/>
          <p:cNvSpPr/>
          <p:nvPr/>
        </p:nvSpPr>
        <p:spPr>
          <a:xfrm>
            <a:off x="4577645" y="2728384"/>
            <a:ext cx="3127812"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per week on reconciliation and chasing late payers</a:t>
            </a:r>
            <a:endParaRPr lang="en-US" sz="1300" dirty="0"/>
          </a:p>
        </p:txBody>
      </p:sp>
      <p:sp>
        <p:nvSpPr>
          <p:cNvPr id="10" name="Shape 8"/>
          <p:cNvSpPr/>
          <p:nvPr/>
        </p:nvSpPr>
        <p:spPr>
          <a:xfrm>
            <a:off x="7978775" y="2131572"/>
            <a:ext cx="3397250" cy="1222816"/>
          </a:xfrm>
          <a:prstGeom prst="roundRect">
            <a:avLst>
              <a:gd name="adj" fmla="val 8049"/>
            </a:avLst>
          </a:prstGeom>
          <a:solidFill>
            <a:srgbClr val="FFFFFF"/>
          </a:solidFill>
          <a:ln w="6350">
            <a:solidFill>
              <a:srgbClr val="E2DDD0"/>
            </a:solidFill>
            <a:prstDash val="solid"/>
          </a:ln>
        </p:spPr>
      </p:sp>
      <p:sp>
        <p:nvSpPr>
          <p:cNvPr id="11" name="Text 9"/>
          <p:cNvSpPr/>
          <p:nvPr/>
        </p:nvSpPr>
        <p:spPr>
          <a:xfrm>
            <a:off x="8159045" y="2311842"/>
            <a:ext cx="3127812" cy="41654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4338CA"/>
                </a:solidFill>
                <a:latin typeface="Inter" pitchFamily="34" charset="0"/>
                <a:ea typeface="Inter" pitchFamily="34" charset="-122"/>
                <a:cs typeface="Inter" pitchFamily="34" charset="-120"/>
              </a:rPr>
              <a:t>1 wrong key-in</a:t>
            </a:r>
            <a:endParaRPr lang="en-US" sz="2800" dirty="0"/>
          </a:p>
        </p:txBody>
      </p:sp>
      <p:sp>
        <p:nvSpPr>
          <p:cNvPr id="12" name="Text 10"/>
          <p:cNvSpPr/>
          <p:nvPr/>
        </p:nvSpPr>
        <p:spPr>
          <a:xfrm>
            <a:off x="8159045" y="2728384"/>
            <a:ext cx="3127812"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can go unnoticed for a month</a:t>
            </a:r>
            <a:endParaRPr lang="en-US" sz="1300" dirty="0"/>
          </a:p>
        </p:txBody>
      </p:sp>
      <p:sp>
        <p:nvSpPr>
          <p:cNvPr id="13" name="Text 11"/>
          <p:cNvSpPr/>
          <p:nvPr/>
        </p:nvSpPr>
        <p:spPr>
          <a:xfrm>
            <a:off x="812800" y="3586163"/>
            <a:ext cx="10883392" cy="23106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7A"/>
                </a:solidFill>
                <a:latin typeface="Inter" pitchFamily="34" charset="0"/>
                <a:ea typeface="Inter" pitchFamily="34" charset="-122"/>
                <a:cs typeface="Inter" pitchFamily="34" charset="-120"/>
              </a:rPr>
              <a:t>Assumed manual baseline, to be validated in a pilot. Demo data is synthetic.</a:t>
            </a:r>
            <a:endParaRPr lang="en-US" sz="1200" dirty="0"/>
          </a:p>
        </p:txBody>
      </p:sp>
      <p:sp>
        <p:nvSpPr>
          <p:cNvPr id="14" name="Text 12"/>
          <p:cNvSpPr/>
          <p:nvPr/>
        </p:nvSpPr>
        <p:spPr>
          <a:xfrm>
            <a:off x="812800" y="4020432"/>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WHO WE BUILD FOR</a:t>
            </a:r>
            <a:endParaRPr lang="en-US" sz="1200" dirty="0"/>
          </a:p>
        </p:txBody>
      </p:sp>
      <p:sp>
        <p:nvSpPr>
          <p:cNvPr id="15" name="Shape 13"/>
          <p:cNvSpPr/>
          <p:nvPr/>
        </p:nvSpPr>
        <p:spPr>
          <a:xfrm>
            <a:off x="815975" y="4465549"/>
            <a:ext cx="2501900" cy="1113543"/>
          </a:xfrm>
          <a:prstGeom prst="roundRect">
            <a:avLst>
              <a:gd name="adj" fmla="val 8839"/>
            </a:avLst>
          </a:prstGeom>
          <a:solidFill>
            <a:srgbClr val="FFFFFF"/>
          </a:solidFill>
          <a:ln w="6350">
            <a:solidFill>
              <a:srgbClr val="E2DDD0"/>
            </a:solidFill>
            <a:prstDash val="solid"/>
          </a:ln>
        </p:spPr>
      </p:sp>
      <p:sp>
        <p:nvSpPr>
          <p:cNvPr id="16" name="Text 14"/>
          <p:cNvSpPr/>
          <p:nvPr/>
        </p:nvSpPr>
        <p:spPr>
          <a:xfrm>
            <a:off x="996244" y="4645819"/>
            <a:ext cx="220560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Owners</a:t>
            </a:r>
            <a:endParaRPr lang="en-US" sz="1600" dirty="0"/>
          </a:p>
        </p:txBody>
      </p:sp>
      <p:sp>
        <p:nvSpPr>
          <p:cNvPr id="17" name="Text 15"/>
          <p:cNvSpPr/>
          <p:nvPr/>
        </p:nvSpPr>
        <p:spPr>
          <a:xfrm>
            <a:off x="996244" y="4953088"/>
            <a:ext cx="2205602"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Approves what matters, sees everything.</a:t>
            </a:r>
            <a:endParaRPr lang="en-US" sz="1300" dirty="0"/>
          </a:p>
        </p:txBody>
      </p:sp>
      <p:sp>
        <p:nvSpPr>
          <p:cNvPr id="18" name="Shape 16"/>
          <p:cNvSpPr/>
          <p:nvPr/>
        </p:nvSpPr>
        <p:spPr>
          <a:xfrm>
            <a:off x="3502025" y="4465549"/>
            <a:ext cx="2501900" cy="1113543"/>
          </a:xfrm>
          <a:prstGeom prst="roundRect">
            <a:avLst>
              <a:gd name="adj" fmla="val 8839"/>
            </a:avLst>
          </a:prstGeom>
          <a:solidFill>
            <a:srgbClr val="FFFFFF"/>
          </a:solidFill>
          <a:ln w="6350">
            <a:solidFill>
              <a:srgbClr val="E2DDD0"/>
            </a:solidFill>
            <a:prstDash val="solid"/>
          </a:ln>
        </p:spPr>
      </p:sp>
      <p:sp>
        <p:nvSpPr>
          <p:cNvPr id="19" name="Text 17"/>
          <p:cNvSpPr/>
          <p:nvPr/>
        </p:nvSpPr>
        <p:spPr>
          <a:xfrm>
            <a:off x="3682295" y="4645819"/>
            <a:ext cx="220560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Finance staff</a:t>
            </a:r>
            <a:endParaRPr lang="en-US" sz="1600" dirty="0"/>
          </a:p>
        </p:txBody>
      </p:sp>
      <p:sp>
        <p:nvSpPr>
          <p:cNvPr id="20" name="Text 18"/>
          <p:cNvSpPr/>
          <p:nvPr/>
        </p:nvSpPr>
        <p:spPr>
          <a:xfrm>
            <a:off x="3682295" y="4953088"/>
            <a:ext cx="2205602"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Approves routine matches up to a limit.</a:t>
            </a:r>
            <a:endParaRPr lang="en-US" sz="1300" dirty="0"/>
          </a:p>
        </p:txBody>
      </p:sp>
      <p:sp>
        <p:nvSpPr>
          <p:cNvPr id="21" name="Shape 19"/>
          <p:cNvSpPr/>
          <p:nvPr/>
        </p:nvSpPr>
        <p:spPr>
          <a:xfrm>
            <a:off x="6188075" y="4465549"/>
            <a:ext cx="2501900" cy="1113543"/>
          </a:xfrm>
          <a:prstGeom prst="roundRect">
            <a:avLst>
              <a:gd name="adj" fmla="val 8839"/>
            </a:avLst>
          </a:prstGeom>
          <a:solidFill>
            <a:srgbClr val="FFFFFF"/>
          </a:solidFill>
          <a:ln w="6350">
            <a:solidFill>
              <a:srgbClr val="E2DDD0"/>
            </a:solidFill>
            <a:prstDash val="solid"/>
          </a:ln>
        </p:spPr>
      </p:sp>
      <p:sp>
        <p:nvSpPr>
          <p:cNvPr id="22" name="Text 20"/>
          <p:cNvSpPr/>
          <p:nvPr/>
        </p:nvSpPr>
        <p:spPr>
          <a:xfrm>
            <a:off x="6368345" y="4645819"/>
            <a:ext cx="220560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Sales staff</a:t>
            </a:r>
            <a:endParaRPr lang="en-US" sz="1600" dirty="0"/>
          </a:p>
        </p:txBody>
      </p:sp>
      <p:sp>
        <p:nvSpPr>
          <p:cNvPr id="23" name="Text 21"/>
          <p:cNvSpPr/>
          <p:nvPr/>
        </p:nvSpPr>
        <p:spPr>
          <a:xfrm>
            <a:off x="6368345" y="4953088"/>
            <a:ext cx="2205602"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Sees own customers only. Cannot approve.</a:t>
            </a:r>
            <a:endParaRPr lang="en-US" sz="1300" dirty="0"/>
          </a:p>
        </p:txBody>
      </p:sp>
      <p:sp>
        <p:nvSpPr>
          <p:cNvPr id="24" name="Shape 22"/>
          <p:cNvSpPr/>
          <p:nvPr/>
        </p:nvSpPr>
        <p:spPr>
          <a:xfrm>
            <a:off x="8874125" y="4465549"/>
            <a:ext cx="2501900" cy="1113543"/>
          </a:xfrm>
          <a:prstGeom prst="roundRect">
            <a:avLst>
              <a:gd name="adj" fmla="val 8839"/>
            </a:avLst>
          </a:prstGeom>
          <a:solidFill>
            <a:srgbClr val="FFFFFF"/>
          </a:solidFill>
          <a:ln w="6350">
            <a:solidFill>
              <a:srgbClr val="E2DDD0"/>
            </a:solidFill>
            <a:prstDash val="solid"/>
          </a:ln>
        </p:spPr>
      </p:sp>
      <p:sp>
        <p:nvSpPr>
          <p:cNvPr id="25" name="Text 23"/>
          <p:cNvSpPr/>
          <p:nvPr/>
        </p:nvSpPr>
        <p:spPr>
          <a:xfrm>
            <a:off x="9054395" y="4645819"/>
            <a:ext cx="220560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Customers</a:t>
            </a:r>
            <a:endParaRPr lang="en-US" sz="1600" dirty="0"/>
          </a:p>
        </p:txBody>
      </p:sp>
      <p:sp>
        <p:nvSpPr>
          <p:cNvPr id="26" name="Text 24"/>
          <p:cNvSpPr/>
          <p:nvPr/>
        </p:nvSpPr>
        <p:spPr>
          <a:xfrm>
            <a:off x="9054395" y="4953088"/>
            <a:ext cx="2205602"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Sends the receipt on WhatsApp. No dashboard.</a:t>
            </a:r>
            <a:endParaRPr lang="en-US" sz="1300" dirty="0"/>
          </a:p>
        </p:txBody>
      </p:sp>
      <p:sp>
        <p:nvSpPr>
          <p:cNvPr id="27" name="Text 25"/>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2. Solution &amp; Innovation</a:t>
            </a:r>
            <a:endParaRPr lang="en-US" sz="2800" dirty="0"/>
          </a:p>
        </p:txBody>
      </p:sp>
      <p:sp>
        <p:nvSpPr>
          <p:cNvPr id="3" name="Text 1"/>
          <p:cNvSpPr/>
          <p:nvPr/>
        </p:nvSpPr>
        <p:spPr>
          <a:xfrm>
            <a:off x="812800" y="1305542"/>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AI only reads the receipt. Rules decide. A person approves.</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42559"/>
          <a:ext cx="10555111" cy="2673350"/>
        </p:xfrm>
        <a:graphic>
          <a:graphicData uri="http://schemas.openxmlformats.org/drawingml/2006/table">
            <a:tbl>
              <a:tblPr/>
              <a:tblGrid>
                <a:gridCol w="3518370"/>
                <a:gridCol w="3518370"/>
                <a:gridCol w="3518370"/>
              </a:tblGrid>
              <a:tr h="445558">
                <a:tc>
                  <a:txBody>
                    <a:bodyPr/>
                    <a:lstStyle/>
                    <a:p>
                      <a:pPr indent="0" marL="0">
                        <a:lnSpc>
                          <a:spcPts val="1820"/>
                        </a:lnSpc>
                        <a:buNone/>
                      </a:pP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5A607A"/>
                          </a:solidFill>
                          <a:latin typeface="Inter" pitchFamily="34" charset="0"/>
                          <a:ea typeface="Inter" pitchFamily="34" charset="-122"/>
                          <a:cs typeface="Inter" pitchFamily="34" charset="-120"/>
                        </a:rPr>
                        <a:t>Today: WhatsApp plus spreadsheet</a:t>
                      </a:r>
                      <a:endParaRPr lang="en-US" sz="1300" dirty="0">
                        <a:latin typeface="Inter" charset="0"/>
                        <a:ea typeface="Inter" charset="0"/>
                        <a:cs typeface="Inter" charset="0"/>
                      </a:endParaRPr>
                    </a:p>
                  </a:txBody>
                  <a:tcPr marL="127000" marR="127000" marT="101600" marB="10160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4338CA"/>
                          </a:solidFill>
                          <a:latin typeface="Inter" pitchFamily="34" charset="0"/>
                          <a:ea typeface="Inter" pitchFamily="34" charset="-122"/>
                          <a:cs typeface="Inter" pitchFamily="34" charset="-120"/>
                        </a:rPr>
                        <a:t>With Orbit</a:t>
                      </a:r>
                      <a:endParaRPr lang="en-US" sz="1300" dirty="0">
                        <a:latin typeface="Inter" charset="0"/>
                        <a:ea typeface="Inter" charset="0"/>
                        <a:cs typeface="Inter" charset="0"/>
                      </a:endParaRPr>
                    </a:p>
                  </a:txBody>
                  <a:tcPr marL="127000" marR="127000" marT="101600" marB="10160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45558">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Read the receipt</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Owner squints at a screenshot</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4338CA"/>
                          </a:solidFill>
                          <a:latin typeface="Inter" pitchFamily="34" charset="0"/>
                          <a:ea typeface="Inter" pitchFamily="34" charset="-122"/>
                          <a:cs typeface="Inter" pitchFamily="34" charset="-120"/>
                        </a:rPr>
                        <a:t>AI reads the image, nothing more</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45558">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Match to an invoice</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Eyeball plus spreadsheet</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4338CA"/>
                          </a:solidFill>
                          <a:latin typeface="Inter" pitchFamily="34" charset="0"/>
                          <a:ea typeface="Inter" pitchFamily="34" charset="-122"/>
                          <a:cs typeface="Inter" pitchFamily="34" charset="-120"/>
                        </a:rPr>
                        <a:t>100-point scorecard, with reasons</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45558">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Record the payment</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Owner keys it in</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4338CA"/>
                          </a:solidFill>
                          <a:latin typeface="Inter" pitchFamily="34" charset="0"/>
                          <a:ea typeface="Inter" pitchFamily="34" charset="-122"/>
                          <a:cs typeface="Inter" pitchFamily="34" charset="-120"/>
                        </a:rPr>
                        <a:t>One-tap approval by the right role</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45558">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Chase late payers</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Ad hoc, easy to forget</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4338CA"/>
                          </a:solidFill>
                          <a:latin typeface="Inter" pitchFamily="34" charset="0"/>
                          <a:ea typeface="Inter" pitchFamily="34" charset="-122"/>
                          <a:cs typeface="Inter" pitchFamily="34" charset="-120"/>
                        </a:rPr>
                        <a:t>Reminder ladder, batch-approved</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45558">
                <a:tc>
                  <a:txBody>
                    <a:bodyPr/>
                    <a:lstStyle/>
                    <a:p>
                      <a:pPr indent="0" marL="0">
                        <a:lnSpc>
                          <a:spcPts val="1820"/>
                        </a:lnSpc>
                        <a:buNone/>
                      </a:pPr>
                      <a:r>
                        <a:rPr lang="en-US" sz="1300" dirty="0">
                          <a:solidFill>
                            <a:srgbClr val="161B3A"/>
                          </a:solidFill>
                          <a:latin typeface="Inter" pitchFamily="34" charset="0"/>
                          <a:ea typeface="Inter" pitchFamily="34" charset="-122"/>
                          <a:cs typeface="Inter" pitchFamily="34" charset="-120"/>
                        </a:rPr>
                        <a:t>Keep a record</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5A607A"/>
                          </a:solidFill>
                          <a:latin typeface="Inter" pitchFamily="34" charset="0"/>
                          <a:ea typeface="Inter" pitchFamily="34" charset="-122"/>
                          <a:cs typeface="Inter" pitchFamily="34" charset="-120"/>
                        </a:rPr>
                        <a:t>Spreadsheet edits</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4338CA"/>
                          </a:solidFill>
                          <a:latin typeface="Inter" pitchFamily="34" charset="0"/>
                          <a:ea typeface="Inter" pitchFamily="34" charset="-122"/>
                          <a:cs typeface="Inter" pitchFamily="34" charset="-120"/>
                        </a:rPr>
                        <a:t>Hash-chained, tamper-evident log</a:t>
                      </a:r>
                      <a:endParaRPr lang="en-US" sz="1300" dirty="0">
                        <a:latin typeface="Inter" charset="0"/>
                        <a:ea typeface="Inter" charset="0"/>
                        <a:cs typeface="Inter" charset="0"/>
                      </a:endParaRPr>
                    </a:p>
                  </a:txBody>
                  <a:tcPr marL="127000" marR="127000" marT="101600" marB="10160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744509"/>
            <a:ext cx="10883392"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07A"/>
                </a:solidFill>
                <a:latin typeface="Inter" pitchFamily="34" charset="0"/>
                <a:ea typeface="Inter" pitchFamily="34" charset="-122"/>
                <a:cs typeface="Inter" pitchFamily="34" charset="-120"/>
              </a:rPr>
              <a:t>A workflow product, not a chatbot. It adds receivables, not Orbyte's existing HR and admin functions.</a:t>
            </a:r>
            <a:endParaRPr lang="en-US" sz="1300" dirty="0"/>
          </a:p>
        </p:txBody>
      </p:sp>
      <p:sp>
        <p:nvSpPr>
          <p:cNvPr id="6" name="Text 3"/>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3. How it Works</a:t>
            </a:r>
            <a:endParaRPr lang="en-US" sz="2800" dirty="0"/>
          </a:p>
        </p:txBody>
      </p:sp>
      <p:sp>
        <p:nvSpPr>
          <p:cNvPr id="3" name="Text 1"/>
          <p:cNvSpPr/>
          <p:nvPr/>
        </p:nvSpPr>
        <p:spPr>
          <a:xfrm>
            <a:off x="812800" y="1305542"/>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From a WhatsApp screenshot to a recorded payment, with a person approving.</a:t>
            </a:r>
            <a:endParaRPr lang="en-US" sz="1800" dirty="0"/>
          </a:p>
        </p:txBody>
      </p:sp>
      <p:sp>
        <p:nvSpPr>
          <p:cNvPr id="4" name="Shape 2"/>
          <p:cNvSpPr/>
          <p:nvPr/>
        </p:nvSpPr>
        <p:spPr>
          <a:xfrm>
            <a:off x="815975" y="1834446"/>
            <a:ext cx="1964619" cy="2058988"/>
          </a:xfrm>
          <a:prstGeom prst="roundRect">
            <a:avLst>
              <a:gd name="adj" fmla="val 5010"/>
            </a:avLst>
          </a:prstGeom>
          <a:solidFill>
            <a:srgbClr val="FFFFFF"/>
          </a:solidFill>
          <a:ln w="6350">
            <a:solidFill>
              <a:srgbClr val="E2DDD0"/>
            </a:solidFill>
            <a:prstDash val="solid"/>
          </a:ln>
        </p:spPr>
      </p:sp>
      <p:sp>
        <p:nvSpPr>
          <p:cNvPr id="5" name="Text 3"/>
          <p:cNvSpPr/>
          <p:nvPr/>
        </p:nvSpPr>
        <p:spPr>
          <a:xfrm>
            <a:off x="996244" y="2014714"/>
            <a:ext cx="1654881"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96244" y="2291556"/>
            <a:ext cx="1654881"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Trigger</a:t>
            </a:r>
            <a:endParaRPr lang="en-US" sz="1600" dirty="0"/>
          </a:p>
        </p:txBody>
      </p:sp>
      <p:sp>
        <p:nvSpPr>
          <p:cNvPr id="7" name="Text 5"/>
          <p:cNvSpPr/>
          <p:nvPr/>
        </p:nvSpPr>
        <p:spPr>
          <a:xfrm>
            <a:off x="996244" y="2598827"/>
            <a:ext cx="1654881" cy="694002"/>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Customer sends a receipt on WhatsApp.</a:t>
            </a:r>
            <a:endParaRPr lang="en-US" sz="1300" dirty="0"/>
          </a:p>
        </p:txBody>
      </p:sp>
      <p:sp>
        <p:nvSpPr>
          <p:cNvPr id="8" name="Shape 6"/>
          <p:cNvSpPr/>
          <p:nvPr/>
        </p:nvSpPr>
        <p:spPr>
          <a:xfrm>
            <a:off x="2964744" y="1834446"/>
            <a:ext cx="1964708" cy="2058988"/>
          </a:xfrm>
          <a:prstGeom prst="roundRect">
            <a:avLst>
              <a:gd name="adj" fmla="val 5010"/>
            </a:avLst>
          </a:prstGeom>
          <a:solidFill>
            <a:srgbClr val="FFFFFF"/>
          </a:solidFill>
          <a:ln w="6350">
            <a:solidFill>
              <a:srgbClr val="E2DDD0"/>
            </a:solidFill>
            <a:prstDash val="solid"/>
          </a:ln>
        </p:spPr>
      </p:sp>
      <p:sp>
        <p:nvSpPr>
          <p:cNvPr id="9" name="Text 7"/>
          <p:cNvSpPr/>
          <p:nvPr/>
        </p:nvSpPr>
        <p:spPr>
          <a:xfrm>
            <a:off x="3145014" y="2014714"/>
            <a:ext cx="1654969"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2</a:t>
            </a:r>
            <a:endParaRPr lang="en-US" sz="1200" dirty="0"/>
          </a:p>
        </p:txBody>
      </p:sp>
      <p:sp>
        <p:nvSpPr>
          <p:cNvPr id="10" name="Text 8"/>
          <p:cNvSpPr/>
          <p:nvPr/>
        </p:nvSpPr>
        <p:spPr>
          <a:xfrm>
            <a:off x="3145014" y="2291556"/>
            <a:ext cx="1781263"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Connected data</a:t>
            </a:r>
            <a:endParaRPr lang="en-US" sz="1600" dirty="0"/>
          </a:p>
        </p:txBody>
      </p:sp>
      <p:sp>
        <p:nvSpPr>
          <p:cNvPr id="11" name="Text 9"/>
          <p:cNvSpPr/>
          <p:nvPr/>
        </p:nvSpPr>
        <p:spPr>
          <a:xfrm>
            <a:off x="3145014" y="2598827"/>
            <a:ext cx="1654969" cy="916869"/>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Open invoices, customers and roles come through the Orbyte connector.</a:t>
            </a:r>
            <a:endParaRPr lang="en-US" sz="1300" dirty="0"/>
          </a:p>
        </p:txBody>
      </p:sp>
      <p:sp>
        <p:nvSpPr>
          <p:cNvPr id="12" name="Shape 10"/>
          <p:cNvSpPr/>
          <p:nvPr/>
        </p:nvSpPr>
        <p:spPr>
          <a:xfrm>
            <a:off x="5113602" y="1834446"/>
            <a:ext cx="1964708" cy="2058988"/>
          </a:xfrm>
          <a:prstGeom prst="roundRect">
            <a:avLst>
              <a:gd name="adj" fmla="val 5010"/>
            </a:avLst>
          </a:prstGeom>
          <a:solidFill>
            <a:srgbClr val="FFFFFF"/>
          </a:solidFill>
          <a:ln w="6350">
            <a:solidFill>
              <a:srgbClr val="E2DDD0"/>
            </a:solidFill>
            <a:prstDash val="solid"/>
          </a:ln>
        </p:spPr>
      </p:sp>
      <p:sp>
        <p:nvSpPr>
          <p:cNvPr id="13" name="Text 11"/>
          <p:cNvSpPr/>
          <p:nvPr/>
        </p:nvSpPr>
        <p:spPr>
          <a:xfrm>
            <a:off x="5293871" y="2014714"/>
            <a:ext cx="1654969"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3</a:t>
            </a:r>
            <a:endParaRPr lang="en-US" sz="1200" dirty="0"/>
          </a:p>
        </p:txBody>
      </p:sp>
      <p:sp>
        <p:nvSpPr>
          <p:cNvPr id="14" name="Text 12"/>
          <p:cNvSpPr/>
          <p:nvPr/>
        </p:nvSpPr>
        <p:spPr>
          <a:xfrm>
            <a:off x="5293871" y="2291556"/>
            <a:ext cx="1654969"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Decision</a:t>
            </a:r>
            <a:endParaRPr lang="en-US" sz="1600" dirty="0"/>
          </a:p>
        </p:txBody>
      </p:sp>
      <p:sp>
        <p:nvSpPr>
          <p:cNvPr id="15" name="Text 13"/>
          <p:cNvSpPr/>
          <p:nvPr/>
        </p:nvSpPr>
        <p:spPr>
          <a:xfrm>
            <a:off x="5293871" y="2598827"/>
            <a:ext cx="1654969" cy="916869"/>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One AI call reads the image. A rules scorecard matches and classifies it.</a:t>
            </a:r>
            <a:endParaRPr lang="en-US" sz="1300" dirty="0"/>
          </a:p>
        </p:txBody>
      </p:sp>
      <p:sp>
        <p:nvSpPr>
          <p:cNvPr id="16" name="Shape 14"/>
          <p:cNvSpPr/>
          <p:nvPr/>
        </p:nvSpPr>
        <p:spPr>
          <a:xfrm>
            <a:off x="7262460" y="1834446"/>
            <a:ext cx="1964708" cy="2058988"/>
          </a:xfrm>
          <a:prstGeom prst="roundRect">
            <a:avLst>
              <a:gd name="adj" fmla="val 5010"/>
            </a:avLst>
          </a:prstGeom>
          <a:solidFill>
            <a:srgbClr val="FFFFFF"/>
          </a:solidFill>
          <a:ln w="6350">
            <a:solidFill>
              <a:srgbClr val="E2DDD0"/>
            </a:solidFill>
            <a:prstDash val="solid"/>
          </a:ln>
        </p:spPr>
      </p:sp>
      <p:sp>
        <p:nvSpPr>
          <p:cNvPr id="17" name="Text 15"/>
          <p:cNvSpPr/>
          <p:nvPr/>
        </p:nvSpPr>
        <p:spPr>
          <a:xfrm>
            <a:off x="7442729" y="2014714"/>
            <a:ext cx="1654969"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4</a:t>
            </a:r>
            <a:endParaRPr lang="en-US" sz="1200" dirty="0"/>
          </a:p>
        </p:txBody>
      </p:sp>
      <p:sp>
        <p:nvSpPr>
          <p:cNvPr id="18" name="Text 16"/>
          <p:cNvSpPr/>
          <p:nvPr/>
        </p:nvSpPr>
        <p:spPr>
          <a:xfrm>
            <a:off x="7442729" y="2291556"/>
            <a:ext cx="1654969"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Approval</a:t>
            </a:r>
            <a:endParaRPr lang="en-US" sz="1600" dirty="0"/>
          </a:p>
        </p:txBody>
      </p:sp>
      <p:sp>
        <p:nvSpPr>
          <p:cNvPr id="19" name="Text 17"/>
          <p:cNvSpPr/>
          <p:nvPr/>
        </p:nvSpPr>
        <p:spPr>
          <a:xfrm>
            <a:off x="7442729" y="2598827"/>
            <a:ext cx="1654969" cy="113973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The right role approves with one tap. Limits are enforced on the server.</a:t>
            </a:r>
            <a:endParaRPr lang="en-US" sz="1300" dirty="0"/>
          </a:p>
        </p:txBody>
      </p:sp>
      <p:sp>
        <p:nvSpPr>
          <p:cNvPr id="20" name="Shape 18"/>
          <p:cNvSpPr/>
          <p:nvPr/>
        </p:nvSpPr>
        <p:spPr>
          <a:xfrm>
            <a:off x="9411318" y="1834446"/>
            <a:ext cx="1964708" cy="2058988"/>
          </a:xfrm>
          <a:prstGeom prst="roundRect">
            <a:avLst>
              <a:gd name="adj" fmla="val 5010"/>
            </a:avLst>
          </a:prstGeom>
          <a:solidFill>
            <a:srgbClr val="FFFFFF"/>
          </a:solidFill>
          <a:ln w="6350">
            <a:solidFill>
              <a:srgbClr val="E2DDD0"/>
            </a:solidFill>
            <a:prstDash val="solid"/>
          </a:ln>
        </p:spPr>
      </p:sp>
      <p:sp>
        <p:nvSpPr>
          <p:cNvPr id="21" name="Text 19"/>
          <p:cNvSpPr/>
          <p:nvPr/>
        </p:nvSpPr>
        <p:spPr>
          <a:xfrm>
            <a:off x="9591587" y="2014714"/>
            <a:ext cx="1654969"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5</a:t>
            </a:r>
            <a:endParaRPr lang="en-US" sz="1200" dirty="0"/>
          </a:p>
        </p:txBody>
      </p:sp>
      <p:sp>
        <p:nvSpPr>
          <p:cNvPr id="22" name="Text 20"/>
          <p:cNvSpPr/>
          <p:nvPr/>
        </p:nvSpPr>
        <p:spPr>
          <a:xfrm>
            <a:off x="9591587" y="2291556"/>
            <a:ext cx="1654969"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Outcome</a:t>
            </a:r>
            <a:endParaRPr lang="en-US" sz="1600" dirty="0"/>
          </a:p>
        </p:txBody>
      </p:sp>
      <p:sp>
        <p:nvSpPr>
          <p:cNvPr id="23" name="Text 21"/>
          <p:cNvSpPr/>
          <p:nvPr/>
        </p:nvSpPr>
        <p:spPr>
          <a:xfrm>
            <a:off x="9591587" y="2598827"/>
            <a:ext cx="1654969" cy="916869"/>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Invoice marked paid, customer notified, audit log updated.</a:t>
            </a:r>
            <a:endParaRPr lang="en-US" sz="1300" dirty="0"/>
          </a:p>
        </p:txBody>
      </p:sp>
      <p:sp>
        <p:nvSpPr>
          <p:cNvPr id="24" name="Text 22"/>
          <p:cNvSpPr/>
          <p:nvPr/>
        </p:nvSpPr>
        <p:spPr>
          <a:xfrm>
            <a:off x="812800" y="4125209"/>
            <a:ext cx="10883392" cy="248267"/>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B3A"/>
                </a:solidFill>
                <a:latin typeface="Inter" pitchFamily="34" charset="0"/>
                <a:ea typeface="Inter" pitchFamily="34" charset="-122"/>
                <a:cs typeface="Inter" pitchFamily="34" charset="-120"/>
              </a:rPr>
              <a:t>Built with</a:t>
            </a:r>
            <a:r>
              <a:rPr lang="en-US" sz="1300" dirty="0">
                <a:solidFill>
                  <a:srgbClr val="161B3A"/>
                </a:solidFill>
                <a:latin typeface="Inter" pitchFamily="34" charset="0"/>
                <a:ea typeface="Inter" pitchFamily="34" charset="-122"/>
                <a:cs typeface="Inter" pitchFamily="34" charset="-120"/>
              </a:rPr>
              <a:t> Python 3.12 · FastAPI · SQLite · Next.js · Tailwind · Claude vision, swappable behind one interface.</a:t>
            </a:r>
            <a:endParaRPr lang="en-US" sz="1300" dirty="0"/>
          </a:p>
        </p:txBody>
      </p:sp>
      <p:sp>
        <p:nvSpPr>
          <p:cNvPr id="25" name="Text 23"/>
          <p:cNvSpPr/>
          <p:nvPr/>
        </p:nvSpPr>
        <p:spPr>
          <a:xfrm>
            <a:off x="812800" y="4576676"/>
            <a:ext cx="10883392" cy="23106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7A"/>
                </a:solidFill>
                <a:latin typeface="Inter" pitchFamily="34" charset="0"/>
                <a:ea typeface="Inter" pitchFamily="34" charset="-122"/>
                <a:cs typeface="Inter" pitchFamily="34" charset="-120"/>
              </a:rPr>
              <a:t>The demo runs on a built-in WhatsApp simulator that posts the real Cloud API payload shape. It is labelled as simulated on screen.</a:t>
            </a:r>
            <a:endParaRPr lang="en-US" sz="1200" dirty="0"/>
          </a:p>
        </p:txBody>
      </p:sp>
      <p:sp>
        <p:nvSpPr>
          <p:cNvPr id="26" name="Text 24"/>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4. People in Control &amp; Orbyte Fit</a:t>
            </a:r>
            <a:endParaRPr lang="en-US" sz="2800" dirty="0"/>
          </a:p>
        </p:txBody>
      </p:sp>
      <p:sp>
        <p:nvSpPr>
          <p:cNvPr id="3" name="Text 1"/>
          <p:cNvSpPr/>
          <p:nvPr/>
        </p:nvSpPr>
        <p:spPr>
          <a:xfrm>
            <a:off x="812800" y="1305542"/>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Roles, approval and an audit trail, on top of a shared business hub.</a:t>
            </a:r>
            <a:endParaRPr lang="en-US" sz="1800" dirty="0"/>
          </a:p>
        </p:txBody>
      </p:sp>
      <p:sp>
        <p:nvSpPr>
          <p:cNvPr id="4" name="Shape 2"/>
          <p:cNvSpPr/>
          <p:nvPr/>
        </p:nvSpPr>
        <p:spPr>
          <a:xfrm>
            <a:off x="815975" y="1834446"/>
            <a:ext cx="5187950" cy="2724415"/>
          </a:xfrm>
          <a:prstGeom prst="roundRect">
            <a:avLst>
              <a:gd name="adj" fmla="val 3613"/>
            </a:avLst>
          </a:prstGeom>
          <a:solidFill>
            <a:srgbClr val="FFFFFF"/>
          </a:solidFill>
          <a:ln w="6350">
            <a:solidFill>
              <a:srgbClr val="E2DDD0"/>
            </a:solidFill>
            <a:prstDash val="solid"/>
          </a:ln>
        </p:spPr>
      </p:sp>
      <p:sp>
        <p:nvSpPr>
          <p:cNvPr id="5" name="Text 3"/>
          <p:cNvSpPr/>
          <p:nvPr/>
        </p:nvSpPr>
        <p:spPr>
          <a:xfrm>
            <a:off x="1021644" y="2040114"/>
            <a:ext cx="4919909"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People stay in control</a:t>
            </a:r>
            <a:endParaRPr lang="en-US" sz="1600" dirty="0"/>
          </a:p>
        </p:txBody>
      </p:sp>
      <p:sp>
        <p:nvSpPr>
          <p:cNvPr id="6" name="Text 4"/>
          <p:cNvSpPr/>
          <p:nvPr/>
        </p:nvSpPr>
        <p:spPr>
          <a:xfrm>
            <a:off x="1119688" y="2347382"/>
            <a:ext cx="4814245" cy="1585472"/>
          </a:xfrm>
          <a:prstGeom prst="rect">
            <a:avLst/>
          </a:prstGeom>
          <a:noFill/>
          <a:ln/>
        </p:spPr>
        <p:txBody>
          <a:bodyPr wrap="square" lIns="0" tIns="0" rIns="0" bIns="0" rtlCol="0" anchor="t">
            <a:normAutofit/>
          </a:bodyPr>
          <a:lstStyle/>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Finance approves clean matches up to RM 2,000; the Owner decides the rest</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Sales sees own customers and is refused (403, logged)</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Nothing is recorded until a person approves</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Audit log is hash-chained, with verify and export</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PDPA: keyed phone hash, retention limits, synthetic data only</a:t>
            </a:r>
            <a:endParaRPr lang="en-US" sz="1300" dirty="0"/>
          </a:p>
        </p:txBody>
      </p:sp>
      <p:sp>
        <p:nvSpPr>
          <p:cNvPr id="7" name="Shape 5"/>
          <p:cNvSpPr/>
          <p:nvPr/>
        </p:nvSpPr>
        <p:spPr>
          <a:xfrm>
            <a:off x="6188075" y="1834446"/>
            <a:ext cx="5187950" cy="2724415"/>
          </a:xfrm>
          <a:prstGeom prst="roundRect">
            <a:avLst>
              <a:gd name="adj" fmla="val 3613"/>
            </a:avLst>
          </a:prstGeom>
          <a:solidFill>
            <a:srgbClr val="FFFFFF"/>
          </a:solidFill>
          <a:ln w="6350">
            <a:solidFill>
              <a:srgbClr val="E2DDD0"/>
            </a:solidFill>
            <a:prstDash val="solid"/>
          </a:ln>
        </p:spPr>
      </p:sp>
      <p:sp>
        <p:nvSpPr>
          <p:cNvPr id="8" name="Text 6"/>
          <p:cNvSpPr/>
          <p:nvPr/>
        </p:nvSpPr>
        <p:spPr>
          <a:xfrm>
            <a:off x="6393745" y="2040114"/>
            <a:ext cx="4919909"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Orbyte fit and reuse</a:t>
            </a:r>
            <a:endParaRPr lang="en-US" sz="1600" dirty="0"/>
          </a:p>
        </p:txBody>
      </p:sp>
      <p:sp>
        <p:nvSpPr>
          <p:cNvPr id="9" name="Text 7"/>
          <p:cNvSpPr/>
          <p:nvPr/>
        </p:nvSpPr>
        <p:spPr>
          <a:xfrm>
            <a:off x="6491789" y="2347382"/>
            <a:ext cx="4814245" cy="2031206"/>
          </a:xfrm>
          <a:prstGeom prst="rect">
            <a:avLst/>
          </a:prstGeom>
          <a:noFill/>
          <a:ln/>
        </p:spPr>
        <p:txBody>
          <a:bodyPr wrap="square" lIns="0" tIns="0" rIns="0" bIns="0" rtlCol="0" anchor="t">
            <a:normAutofit/>
          </a:bodyPr>
          <a:lstStyle/>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Connector is on the live path: every receipt is scored against invoices it returns</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Every approval writes a payment and an activity event back</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Seven assumed endpoints; no public Orbyte API exists, so a mock stands in</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Same code serves 3 tenants: trader, bakery supplier, tuition centre</a:t>
            </a:r>
            <a:endParaRPr lang="en-US" sz="1300" dirty="0"/>
          </a:p>
          <a:p>
            <a:pPr algn="l" marL="155956" indent="-155956">
              <a:lnSpc>
                <a:spcPts val="1755"/>
              </a:lnSpc>
              <a:buSzPct val="100000"/>
              <a:buChar char="•"/>
            </a:pPr>
            <a:r>
              <a:rPr lang="en-US" sz="1300" dirty="0">
                <a:solidFill>
                  <a:srgbClr val="161B3A"/>
                </a:solidFill>
                <a:latin typeface="Inter" pitchFamily="34" charset="0"/>
                <a:ea typeface="Inter" pitchFamily="34" charset="-122"/>
                <a:cs typeface="Inter" pitchFamily="34" charset="-120"/>
              </a:rPr>
              <a:t>Reusable: POST /v1/receipts/analyze</a:t>
            </a:r>
            <a:endParaRPr lang="en-US" sz="1300" dirty="0"/>
          </a:p>
        </p:txBody>
      </p:sp>
      <p:sp>
        <p:nvSpPr>
          <p:cNvPr id="10" name="Text 8"/>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5. Impact</a:t>
            </a:r>
            <a:endParaRPr lang="en-US" sz="2800" dirty="0"/>
          </a:p>
        </p:txBody>
      </p:sp>
      <p:sp>
        <p:nvSpPr>
          <p:cNvPr id="3" name="Text 1"/>
          <p:cNvSpPr/>
          <p:nvPr/>
        </p:nvSpPr>
        <p:spPr>
          <a:xfrm>
            <a:off x="812800" y="1305542"/>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Fewer manual steps, every payment human-approved. Supports SDG 8.2, 8.3 and SDG 9.</a:t>
            </a:r>
            <a:endParaRPr lang="en-US" sz="1800" dirty="0"/>
          </a:p>
        </p:txBody>
      </p:sp>
      <p:sp>
        <p:nvSpPr>
          <p:cNvPr id="4" name="Shape 2"/>
          <p:cNvSpPr/>
          <p:nvPr/>
        </p:nvSpPr>
        <p:spPr>
          <a:xfrm>
            <a:off x="815975" y="1834446"/>
            <a:ext cx="5187950" cy="3104004"/>
          </a:xfrm>
          <a:prstGeom prst="roundRect">
            <a:avLst>
              <a:gd name="adj" fmla="val 3171"/>
            </a:avLst>
          </a:prstGeom>
          <a:solidFill>
            <a:srgbClr val="FFFFFF"/>
          </a:solidFill>
          <a:ln w="6350">
            <a:solidFill>
              <a:srgbClr val="E2DDD0"/>
            </a:solidFill>
            <a:prstDash val="solid"/>
          </a:ln>
        </p:spPr>
      </p:sp>
      <p:sp>
        <p:nvSpPr>
          <p:cNvPr id="5" name="Text 3"/>
          <p:cNvSpPr/>
          <p:nvPr/>
        </p:nvSpPr>
        <p:spPr>
          <a:xfrm>
            <a:off x="996244" y="2014714"/>
            <a:ext cx="4972233"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Measured on 50 synthetic receipts</a:t>
            </a:r>
            <a:endParaRPr lang="en-US" sz="1600" dirty="0"/>
          </a:p>
        </p:txBody>
      </p:sp>
      <p:sp>
        <p:nvSpPr>
          <p:cNvPr id="6" name="Text 4"/>
          <p:cNvSpPr/>
          <p:nvPr/>
        </p:nvSpPr>
        <p:spPr>
          <a:xfrm>
            <a:off x="996244" y="2321982"/>
            <a:ext cx="4972233" cy="388585"/>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4338CA"/>
                </a:solidFill>
                <a:latin typeface="Inter" pitchFamily="34" charset="0"/>
                <a:ea typeface="Inter" pitchFamily="34" charset="-122"/>
                <a:cs typeface="Inter" pitchFamily="34" charset="-120"/>
              </a:rPr>
              <a:t>47/50</a:t>
            </a:r>
            <a:endParaRPr lang="en-US" sz="2600" dirty="0"/>
          </a:p>
        </p:txBody>
      </p:sp>
      <p:sp>
        <p:nvSpPr>
          <p:cNvPr id="7" name="Text 5"/>
          <p:cNvSpPr/>
          <p:nvPr/>
        </p:nvSpPr>
        <p:spPr>
          <a:xfrm>
            <a:off x="996244" y="2710569"/>
            <a:ext cx="4972233"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classification accuracy (94%)</a:t>
            </a:r>
            <a:endParaRPr lang="en-US" sz="1300" dirty="0"/>
          </a:p>
        </p:txBody>
      </p:sp>
      <p:sp>
        <p:nvSpPr>
          <p:cNvPr id="8" name="Text 6"/>
          <p:cNvSpPr/>
          <p:nvPr/>
        </p:nvSpPr>
        <p:spPr>
          <a:xfrm>
            <a:off x="996244" y="2996936"/>
            <a:ext cx="4972233" cy="388585"/>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4338CA"/>
                </a:solidFill>
                <a:latin typeface="Inter" pitchFamily="34" charset="0"/>
                <a:ea typeface="Inter" pitchFamily="34" charset="-122"/>
                <a:cs typeface="Inter" pitchFamily="34" charset="-120"/>
              </a:rPr>
              <a:t>0</a:t>
            </a:r>
            <a:endParaRPr lang="en-US" sz="2600" dirty="0"/>
          </a:p>
        </p:txBody>
      </p:sp>
      <p:sp>
        <p:nvSpPr>
          <p:cNvPr id="9" name="Text 7"/>
          <p:cNvSpPr/>
          <p:nvPr/>
        </p:nvSpPr>
        <p:spPr>
          <a:xfrm>
            <a:off x="996244" y="3385520"/>
            <a:ext cx="4972233"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confident wrong matches</a:t>
            </a:r>
            <a:endParaRPr lang="en-US" sz="1300" dirty="0"/>
          </a:p>
        </p:txBody>
      </p:sp>
      <p:sp>
        <p:nvSpPr>
          <p:cNvPr id="10" name="Text 8"/>
          <p:cNvSpPr/>
          <p:nvPr/>
        </p:nvSpPr>
        <p:spPr>
          <a:xfrm>
            <a:off x="996244" y="3671888"/>
            <a:ext cx="4972233" cy="388585"/>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4338CA"/>
                </a:solidFill>
                <a:latin typeface="Inter" pitchFamily="34" charset="0"/>
                <a:ea typeface="Inter" pitchFamily="34" charset="-122"/>
                <a:cs typeface="Inter" pitchFamily="34" charset="-120"/>
              </a:rPr>
              <a:t>44%</a:t>
            </a:r>
            <a:endParaRPr lang="en-US" sz="2600" dirty="0"/>
          </a:p>
        </p:txBody>
      </p:sp>
      <p:sp>
        <p:nvSpPr>
          <p:cNvPr id="11" name="Text 9"/>
          <p:cNvSpPr/>
          <p:nvPr/>
        </p:nvSpPr>
        <p:spPr>
          <a:xfrm>
            <a:off x="996244" y="4060472"/>
            <a:ext cx="4972233"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auto-matched at score 90+; the rest go to a person</a:t>
            </a:r>
            <a:endParaRPr lang="en-US" sz="1300" dirty="0"/>
          </a:p>
        </p:txBody>
      </p:sp>
      <p:sp>
        <p:nvSpPr>
          <p:cNvPr id="12" name="Text 10"/>
          <p:cNvSpPr/>
          <p:nvPr/>
        </p:nvSpPr>
        <p:spPr>
          <a:xfrm>
            <a:off x="996244" y="4346839"/>
            <a:ext cx="4972233" cy="43673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7A"/>
                </a:solidFill>
                <a:latin typeface="Inter" pitchFamily="34" charset="0"/>
                <a:ea typeface="Inter" pitchFamily="34" charset="-122"/>
                <a:cs typeface="Inter" pitchFamily="34" charset="-120"/>
              </a:rPr>
              <a:t>Extraction is 100% only by construction: the mock reads the labels. It is not a model measurement.</a:t>
            </a:r>
            <a:endParaRPr lang="en-US" sz="1200" dirty="0"/>
          </a:p>
        </p:txBody>
      </p:sp>
      <p:sp>
        <p:nvSpPr>
          <p:cNvPr id="13" name="Shape 11"/>
          <p:cNvSpPr/>
          <p:nvPr/>
        </p:nvSpPr>
        <p:spPr>
          <a:xfrm>
            <a:off x="6188075" y="1834446"/>
            <a:ext cx="5187950" cy="3104004"/>
          </a:xfrm>
          <a:prstGeom prst="roundRect">
            <a:avLst>
              <a:gd name="adj" fmla="val 3171"/>
            </a:avLst>
          </a:prstGeom>
          <a:solidFill>
            <a:srgbClr val="FFFFFF"/>
          </a:solidFill>
          <a:ln w="6350">
            <a:solidFill>
              <a:srgbClr val="E2DDD0"/>
            </a:solidFill>
            <a:prstDash val="solid"/>
          </a:ln>
        </p:spPr>
      </p:sp>
      <p:sp>
        <p:nvSpPr>
          <p:cNvPr id="14" name="Text 12"/>
          <p:cNvSpPr/>
          <p:nvPr/>
        </p:nvSpPr>
        <p:spPr>
          <a:xfrm>
            <a:off x="6368345" y="2014714"/>
            <a:ext cx="4972233"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Targets, not yet measured</a:t>
            </a:r>
            <a:endParaRPr lang="en-US" sz="1600" dirty="0"/>
          </a:p>
        </p:txBody>
      </p:sp>
      <p:sp>
        <p:nvSpPr>
          <p:cNvPr id="15" name="Text 13"/>
          <p:cNvSpPr/>
          <p:nvPr/>
        </p:nvSpPr>
        <p:spPr>
          <a:xfrm>
            <a:off x="6368345" y="2321982"/>
            <a:ext cx="497223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61B3A"/>
                </a:solidFill>
                <a:latin typeface="Inter" pitchFamily="34" charset="0"/>
                <a:ea typeface="Inter" pitchFamily="34" charset="-122"/>
                <a:cs typeface="Inter" pitchFamily="34" charset="-120"/>
              </a:rPr>
              <a:t>~3 min → ~20 s</a:t>
            </a:r>
            <a:endParaRPr lang="en-US" sz="2400" dirty="0"/>
          </a:p>
        </p:txBody>
      </p:sp>
      <p:sp>
        <p:nvSpPr>
          <p:cNvPr id="16" name="Text 14"/>
          <p:cNvSpPr/>
          <p:nvPr/>
        </p:nvSpPr>
        <p:spPr>
          <a:xfrm>
            <a:off x="6368345" y="2682611"/>
            <a:ext cx="4972233"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per receipt</a:t>
            </a:r>
            <a:endParaRPr lang="en-US" sz="1300" dirty="0"/>
          </a:p>
        </p:txBody>
      </p:sp>
      <p:sp>
        <p:nvSpPr>
          <p:cNvPr id="17" name="Text 15"/>
          <p:cNvSpPr/>
          <p:nvPr/>
        </p:nvSpPr>
        <p:spPr>
          <a:xfrm>
            <a:off x="6368345" y="2968978"/>
            <a:ext cx="497223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61B3A"/>
                </a:solidFill>
                <a:latin typeface="Inter" pitchFamily="34" charset="0"/>
                <a:ea typeface="Inter" pitchFamily="34" charset="-122"/>
                <a:cs typeface="Inter" pitchFamily="34" charset="-120"/>
              </a:rPr>
              <a:t>~6 h → ~1 h</a:t>
            </a:r>
            <a:endParaRPr lang="en-US" sz="2400" dirty="0"/>
          </a:p>
        </p:txBody>
      </p:sp>
      <p:sp>
        <p:nvSpPr>
          <p:cNvPr id="18" name="Text 16"/>
          <p:cNvSpPr/>
          <p:nvPr/>
        </p:nvSpPr>
        <p:spPr>
          <a:xfrm>
            <a:off x="6368345" y="3329605"/>
            <a:ext cx="4972233"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per week on reconciliation and chasing</a:t>
            </a:r>
            <a:endParaRPr lang="en-US" sz="1300" dirty="0"/>
          </a:p>
        </p:txBody>
      </p:sp>
      <p:sp>
        <p:nvSpPr>
          <p:cNvPr id="19" name="Text 17"/>
          <p:cNvSpPr/>
          <p:nvPr/>
        </p:nvSpPr>
        <p:spPr>
          <a:xfrm>
            <a:off x="6368345" y="3615972"/>
            <a:ext cx="497223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61B3A"/>
                </a:solidFill>
                <a:latin typeface="Inter" pitchFamily="34" charset="0"/>
                <a:ea typeface="Inter" pitchFamily="34" charset="-122"/>
                <a:cs typeface="Inter" pitchFamily="34" charset="-120"/>
              </a:rPr>
              <a:t>100%</a:t>
            </a:r>
            <a:endParaRPr lang="en-US" sz="2400" dirty="0"/>
          </a:p>
        </p:txBody>
      </p:sp>
      <p:sp>
        <p:nvSpPr>
          <p:cNvPr id="20" name="Text 18"/>
          <p:cNvSpPr/>
          <p:nvPr/>
        </p:nvSpPr>
        <p:spPr>
          <a:xfrm>
            <a:off x="6368345" y="3976601"/>
            <a:ext cx="4972233" cy="24826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of overdue invoices touched on the ladder</a:t>
            </a:r>
            <a:endParaRPr lang="en-US" sz="1300" dirty="0"/>
          </a:p>
        </p:txBody>
      </p:sp>
      <p:sp>
        <p:nvSpPr>
          <p:cNvPr id="21" name="Text 19"/>
          <p:cNvSpPr/>
          <p:nvPr/>
        </p:nvSpPr>
        <p:spPr>
          <a:xfrm>
            <a:off x="6368345" y="4262968"/>
            <a:ext cx="4972233" cy="23106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07A"/>
                </a:solidFill>
                <a:latin typeface="Inter" pitchFamily="34" charset="0"/>
                <a:ea typeface="Inter" pitchFamily="34" charset="-122"/>
                <a:cs typeface="Inter" pitchFamily="34" charset="-120"/>
              </a:rPr>
              <a:t>Against an assumed manual baseline. A timed pilot is next.</a:t>
            </a:r>
            <a:endParaRPr lang="en-US" sz="1200" dirty="0"/>
          </a:p>
        </p:txBody>
      </p:sp>
      <p:sp>
        <p:nvSpPr>
          <p:cNvPr id="22" name="Text 20"/>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6. Feasibility</a:t>
            </a:r>
            <a:endParaRPr lang="en-US" sz="2800" dirty="0"/>
          </a:p>
        </p:txBody>
      </p:sp>
      <p:sp>
        <p:nvSpPr>
          <p:cNvPr id="3" name="Text 1"/>
          <p:cNvSpPr/>
          <p:nvPr/>
        </p:nvSpPr>
        <p:spPr>
          <a:xfrm>
            <a:off x="812800" y="1305542"/>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The core journey runs end to end on synthetic data, with its hardest risk named.</a:t>
            </a:r>
            <a:endParaRPr lang="en-US" sz="1800" dirty="0"/>
          </a:p>
        </p:txBody>
      </p:sp>
      <p:sp>
        <p:nvSpPr>
          <p:cNvPr id="4" name="Shape 2"/>
          <p:cNvSpPr/>
          <p:nvPr/>
        </p:nvSpPr>
        <p:spPr>
          <a:xfrm>
            <a:off x="815975" y="1834446"/>
            <a:ext cx="3397250" cy="2596621"/>
          </a:xfrm>
          <a:prstGeom prst="roundRect">
            <a:avLst>
              <a:gd name="adj" fmla="val 3791"/>
            </a:avLst>
          </a:prstGeom>
          <a:solidFill>
            <a:srgbClr val="FFFFFF"/>
          </a:solidFill>
          <a:ln w="6350">
            <a:solidFill>
              <a:srgbClr val="E2DDD0"/>
            </a:solidFill>
            <a:prstDash val="solid"/>
          </a:ln>
        </p:spPr>
      </p:sp>
      <p:sp>
        <p:nvSpPr>
          <p:cNvPr id="5" name="Text 3"/>
          <p:cNvSpPr/>
          <p:nvPr/>
        </p:nvSpPr>
        <p:spPr>
          <a:xfrm>
            <a:off x="996244" y="2014714"/>
            <a:ext cx="312781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Built and working</a:t>
            </a:r>
            <a:endParaRPr lang="en-US" sz="1600" dirty="0"/>
          </a:p>
        </p:txBody>
      </p:sp>
      <p:sp>
        <p:nvSpPr>
          <p:cNvPr id="6" name="Text 4"/>
          <p:cNvSpPr/>
          <p:nvPr/>
        </p:nvSpPr>
        <p:spPr>
          <a:xfrm>
            <a:off x="1094669" y="2321982"/>
            <a:ext cx="3021767" cy="1525588"/>
          </a:xfrm>
          <a:prstGeom prst="rect">
            <a:avLst/>
          </a:prstGeom>
          <a:noFill/>
          <a:ln/>
        </p:spPr>
        <p:txBody>
          <a:bodyPr wrap="square" lIns="0" tIns="0" rIns="0" bIns="0" rtlCol="0" anchor="t">
            <a:normAutofit/>
          </a:bodyPr>
          <a:lstStyle/>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Webhook to extraction, match, approval, ledger, audit</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Chasing ladder with batch approval</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3 tenants, 75 customers, 80 invoices, 50 receipts</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40 automated tests, 25 documented API paths</a:t>
            </a:r>
            <a:endParaRPr lang="en-US" sz="1250" dirty="0"/>
          </a:p>
        </p:txBody>
      </p:sp>
      <p:sp>
        <p:nvSpPr>
          <p:cNvPr id="7" name="Shape 5"/>
          <p:cNvSpPr/>
          <p:nvPr/>
        </p:nvSpPr>
        <p:spPr>
          <a:xfrm>
            <a:off x="4397375" y="1834446"/>
            <a:ext cx="3397250" cy="2596621"/>
          </a:xfrm>
          <a:prstGeom prst="roundRect">
            <a:avLst>
              <a:gd name="adj" fmla="val 3791"/>
            </a:avLst>
          </a:prstGeom>
          <a:solidFill>
            <a:srgbClr val="FFFFFF"/>
          </a:solidFill>
          <a:ln w="6350">
            <a:solidFill>
              <a:srgbClr val="E2DDD0"/>
            </a:solidFill>
            <a:prstDash val="solid"/>
          </a:ln>
        </p:spPr>
      </p:sp>
      <p:sp>
        <p:nvSpPr>
          <p:cNvPr id="8" name="Text 6"/>
          <p:cNvSpPr/>
          <p:nvPr/>
        </p:nvSpPr>
        <p:spPr>
          <a:xfrm>
            <a:off x="4577645" y="2014714"/>
            <a:ext cx="312781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Hardest risk</a:t>
            </a:r>
            <a:endParaRPr lang="en-US" sz="1600" dirty="0"/>
          </a:p>
        </p:txBody>
      </p:sp>
      <p:sp>
        <p:nvSpPr>
          <p:cNvPr id="9" name="Text 7"/>
          <p:cNvSpPr/>
          <p:nvPr/>
        </p:nvSpPr>
        <p:spPr>
          <a:xfrm>
            <a:off x="4676070" y="2321982"/>
            <a:ext cx="3021767" cy="1954213"/>
          </a:xfrm>
          <a:prstGeom prst="rect">
            <a:avLst/>
          </a:prstGeom>
          <a:noFill/>
          <a:ln/>
        </p:spPr>
        <p:txBody>
          <a:bodyPr wrap="square" lIns="0" tIns="0" rIns="0" bIns="0" rtlCol="0" anchor="t">
            <a:normAutofit/>
          </a:bodyPr>
          <a:lstStyle/>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WhatsApp Business API access (Meta verification)</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Cloud API sender is written but never run against Meta</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Fallback: simulator with the same payload, so only transport is stubbed</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Live reminders need approved templates</a:t>
            </a:r>
            <a:endParaRPr lang="en-US" sz="1250" dirty="0"/>
          </a:p>
        </p:txBody>
      </p:sp>
      <p:sp>
        <p:nvSpPr>
          <p:cNvPr id="10" name="Shape 8"/>
          <p:cNvSpPr/>
          <p:nvPr/>
        </p:nvSpPr>
        <p:spPr>
          <a:xfrm>
            <a:off x="7978775" y="1834446"/>
            <a:ext cx="3397250" cy="2596621"/>
          </a:xfrm>
          <a:prstGeom prst="roundRect">
            <a:avLst>
              <a:gd name="adj" fmla="val 3791"/>
            </a:avLst>
          </a:prstGeom>
          <a:solidFill>
            <a:srgbClr val="FFFFFF"/>
          </a:solidFill>
          <a:ln w="6350">
            <a:solidFill>
              <a:srgbClr val="E2DDD0"/>
            </a:solidFill>
            <a:prstDash val="solid"/>
          </a:ln>
        </p:spPr>
      </p:sp>
      <p:sp>
        <p:nvSpPr>
          <p:cNvPr id="11" name="Text 9"/>
          <p:cNvSpPr/>
          <p:nvPr/>
        </p:nvSpPr>
        <p:spPr>
          <a:xfrm>
            <a:off x="8159045" y="2014714"/>
            <a:ext cx="312781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Next, stated plainly</a:t>
            </a:r>
            <a:endParaRPr lang="en-US" sz="1600" dirty="0"/>
          </a:p>
        </p:txBody>
      </p:sp>
      <p:sp>
        <p:nvSpPr>
          <p:cNvPr id="12" name="Text 10"/>
          <p:cNvSpPr/>
          <p:nvPr/>
        </p:nvSpPr>
        <p:spPr>
          <a:xfrm>
            <a:off x="8257470" y="2321982"/>
            <a:ext cx="3021767" cy="1525588"/>
          </a:xfrm>
          <a:prstGeom prst="rect">
            <a:avLst/>
          </a:prstGeom>
          <a:noFill/>
          <a:ln/>
        </p:spPr>
        <p:txBody>
          <a:bodyPr wrap="square" lIns="0" tIns="0" rIns="0" bIns="0" rtlCol="0" anchor="t">
            <a:normAutofit/>
          </a:bodyPr>
          <a:lstStyle/>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Pilot with 3–5 real SME owners</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Real Meta test number</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HTTP Orbyte connector if access is given</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Daily scheduler for chasing</a:t>
            </a:r>
            <a:endParaRPr lang="en-US" sz="1250" dirty="0"/>
          </a:p>
          <a:p>
            <a:pPr algn="l" marL="155575" indent="-155575">
              <a:lnSpc>
                <a:spcPts val="1688"/>
              </a:lnSpc>
              <a:buSzPct val="100000"/>
              <a:buChar char="•"/>
            </a:pPr>
            <a:r>
              <a:rPr lang="en-US" sz="1250" dirty="0">
                <a:solidFill>
                  <a:srgbClr val="161B3A"/>
                </a:solidFill>
                <a:latin typeface="Inter" pitchFamily="34" charset="0"/>
                <a:ea typeface="Inter" pitchFamily="34" charset="-122"/>
                <a:cs typeface="Inter" pitchFamily="34" charset="-120"/>
              </a:rPr>
              <a:t>Not claimed: forged-receipt detection. Orbit never moves money.</a:t>
            </a:r>
            <a:endParaRPr lang="en-US" sz="1250" dirty="0"/>
          </a:p>
        </p:txBody>
      </p:sp>
      <p:sp>
        <p:nvSpPr>
          <p:cNvPr id="13" name="Text 11"/>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4338CA"/>
                </a:solidFill>
                <a:latin typeface="Inter" pitchFamily="34" charset="0"/>
                <a:ea typeface="Inter" pitchFamily="34" charset="-122"/>
                <a:cs typeface="Inter" pitchFamily="34" charset="-120"/>
              </a:rPr>
              <a:t>7. Implementation &amp; Growth</a:t>
            </a:r>
            <a:endParaRPr lang="en-US" sz="2800" dirty="0"/>
          </a:p>
        </p:txBody>
      </p:sp>
      <p:sp>
        <p:nvSpPr>
          <p:cNvPr id="3" name="Text 1"/>
          <p:cNvSpPr/>
          <p:nvPr/>
        </p:nvSpPr>
        <p:spPr>
          <a:xfrm>
            <a:off x="812800" y="1305545"/>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B3A"/>
                </a:solidFill>
                <a:latin typeface="Inter" pitchFamily="34" charset="0"/>
                <a:ea typeface="Inter" pitchFamily="34" charset="-122"/>
                <a:cs typeface="Inter" pitchFamily="34" charset="-120"/>
              </a:rPr>
              <a:t>Prove it with a few SMEs, then widen what Orbit reconciles and where.</a:t>
            </a:r>
            <a:endParaRPr lang="en-US" sz="1800" dirty="0"/>
          </a:p>
        </p:txBody>
      </p:sp>
      <p:sp>
        <p:nvSpPr>
          <p:cNvPr id="4" name="Shape 2"/>
          <p:cNvSpPr/>
          <p:nvPr/>
        </p:nvSpPr>
        <p:spPr>
          <a:xfrm>
            <a:off x="815975" y="1834443"/>
            <a:ext cx="3397250" cy="1613253"/>
          </a:xfrm>
          <a:prstGeom prst="roundRect">
            <a:avLst>
              <a:gd name="adj" fmla="val 6101"/>
            </a:avLst>
          </a:prstGeom>
          <a:solidFill>
            <a:srgbClr val="FFFFFF"/>
          </a:solidFill>
          <a:ln w="6350">
            <a:solidFill>
              <a:srgbClr val="E2DDD0"/>
            </a:solidFill>
            <a:prstDash val="solid"/>
          </a:ln>
        </p:spPr>
      </p:sp>
      <p:sp>
        <p:nvSpPr>
          <p:cNvPr id="5" name="Text 3"/>
          <p:cNvSpPr/>
          <p:nvPr/>
        </p:nvSpPr>
        <p:spPr>
          <a:xfrm>
            <a:off x="996244" y="2014717"/>
            <a:ext cx="312781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PHASE 1</a:t>
            </a:r>
            <a:endParaRPr lang="en-US" sz="1200" dirty="0"/>
          </a:p>
        </p:txBody>
      </p:sp>
      <p:sp>
        <p:nvSpPr>
          <p:cNvPr id="6" name="Text 4"/>
          <p:cNvSpPr/>
          <p:nvPr/>
        </p:nvSpPr>
        <p:spPr>
          <a:xfrm>
            <a:off x="996244" y="2291556"/>
            <a:ext cx="312781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Malaysian SMEs</a:t>
            </a:r>
            <a:endParaRPr lang="en-US" sz="1600" dirty="0"/>
          </a:p>
        </p:txBody>
      </p:sp>
      <p:sp>
        <p:nvSpPr>
          <p:cNvPr id="7" name="Text 5"/>
          <p:cNvSpPr/>
          <p:nvPr/>
        </p:nvSpPr>
        <p:spPr>
          <a:xfrm>
            <a:off x="996244" y="2598824"/>
            <a:ext cx="3127812" cy="694002"/>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Reconciliation and chasing, piloted with 3–5 businesses that invoice on credit.</a:t>
            </a:r>
            <a:endParaRPr lang="en-US" sz="1300" dirty="0"/>
          </a:p>
        </p:txBody>
      </p:sp>
      <p:sp>
        <p:nvSpPr>
          <p:cNvPr id="8" name="Shape 6"/>
          <p:cNvSpPr/>
          <p:nvPr/>
        </p:nvSpPr>
        <p:spPr>
          <a:xfrm>
            <a:off x="4397375" y="1834443"/>
            <a:ext cx="3397250" cy="1613253"/>
          </a:xfrm>
          <a:prstGeom prst="roundRect">
            <a:avLst>
              <a:gd name="adj" fmla="val 6101"/>
            </a:avLst>
          </a:prstGeom>
          <a:solidFill>
            <a:srgbClr val="FFFFFF"/>
          </a:solidFill>
          <a:ln w="6350">
            <a:solidFill>
              <a:srgbClr val="E2DDD0"/>
            </a:solidFill>
            <a:prstDash val="solid"/>
          </a:ln>
        </p:spPr>
      </p:sp>
      <p:sp>
        <p:nvSpPr>
          <p:cNvPr id="9" name="Text 7"/>
          <p:cNvSpPr/>
          <p:nvPr/>
        </p:nvSpPr>
        <p:spPr>
          <a:xfrm>
            <a:off x="4577645" y="2014717"/>
            <a:ext cx="312781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PHASE 2</a:t>
            </a:r>
            <a:endParaRPr lang="en-US" sz="1200" dirty="0"/>
          </a:p>
        </p:txBody>
      </p:sp>
      <p:sp>
        <p:nvSpPr>
          <p:cNvPr id="10" name="Text 8"/>
          <p:cNvSpPr/>
          <p:nvPr/>
        </p:nvSpPr>
        <p:spPr>
          <a:xfrm>
            <a:off x="4577645" y="2291556"/>
            <a:ext cx="312781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More signals</a:t>
            </a:r>
            <a:endParaRPr lang="en-US" sz="1600" dirty="0"/>
          </a:p>
        </p:txBody>
      </p:sp>
      <p:sp>
        <p:nvSpPr>
          <p:cNvPr id="11" name="Text 9"/>
          <p:cNvSpPr/>
          <p:nvPr/>
        </p:nvSpPr>
        <p:spPr>
          <a:xfrm>
            <a:off x="4577645" y="2598824"/>
            <a:ext cx="3127812" cy="694002"/>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Bank statement matching, e-invoice readiness checks (preparatory), cash-flow forecast.</a:t>
            </a:r>
            <a:endParaRPr lang="en-US" sz="1300" dirty="0"/>
          </a:p>
        </p:txBody>
      </p:sp>
      <p:sp>
        <p:nvSpPr>
          <p:cNvPr id="12" name="Shape 10"/>
          <p:cNvSpPr/>
          <p:nvPr/>
        </p:nvSpPr>
        <p:spPr>
          <a:xfrm>
            <a:off x="7978775" y="1834443"/>
            <a:ext cx="3397250" cy="1613253"/>
          </a:xfrm>
          <a:prstGeom prst="roundRect">
            <a:avLst>
              <a:gd name="adj" fmla="val 6101"/>
            </a:avLst>
          </a:prstGeom>
          <a:solidFill>
            <a:srgbClr val="FFFFFF"/>
          </a:solidFill>
          <a:ln w="6350">
            <a:solidFill>
              <a:srgbClr val="E2DDD0"/>
            </a:solidFill>
            <a:prstDash val="solid"/>
          </a:ln>
        </p:spPr>
      </p:sp>
      <p:sp>
        <p:nvSpPr>
          <p:cNvPr id="13" name="Text 11"/>
          <p:cNvSpPr/>
          <p:nvPr/>
        </p:nvSpPr>
        <p:spPr>
          <a:xfrm>
            <a:off x="8159045" y="2014717"/>
            <a:ext cx="312781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38CA"/>
                </a:solidFill>
                <a:latin typeface="Inter" pitchFamily="34" charset="0"/>
                <a:ea typeface="Inter" pitchFamily="34" charset="-122"/>
                <a:cs typeface="Inter" pitchFamily="34" charset="-120"/>
              </a:rPr>
              <a:t>PHASE 3</a:t>
            </a:r>
            <a:endParaRPr lang="en-US" sz="1200" dirty="0"/>
          </a:p>
        </p:txBody>
      </p:sp>
      <p:sp>
        <p:nvSpPr>
          <p:cNvPr id="14" name="Text 12"/>
          <p:cNvSpPr/>
          <p:nvPr/>
        </p:nvSpPr>
        <p:spPr>
          <a:xfrm>
            <a:off x="8159045" y="2291556"/>
            <a:ext cx="3127812"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ASEAN</a:t>
            </a:r>
            <a:endParaRPr lang="en-US" sz="1600" dirty="0"/>
          </a:p>
        </p:txBody>
      </p:sp>
      <p:sp>
        <p:nvSpPr>
          <p:cNvPr id="15" name="Text 13"/>
          <p:cNvSpPr/>
          <p:nvPr/>
        </p:nvSpPr>
        <p:spPr>
          <a:xfrm>
            <a:off x="8159045" y="2598824"/>
            <a:ext cx="3127812"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Local receipt formats and languages: PayNow, QRIS, PromptPay.</a:t>
            </a:r>
            <a:endParaRPr lang="en-US" sz="1300" dirty="0"/>
          </a:p>
        </p:txBody>
      </p:sp>
      <p:sp>
        <p:nvSpPr>
          <p:cNvPr id="16" name="Shape 14"/>
          <p:cNvSpPr/>
          <p:nvPr/>
        </p:nvSpPr>
        <p:spPr>
          <a:xfrm>
            <a:off x="815975" y="3682647"/>
            <a:ext cx="10560050" cy="1113543"/>
          </a:xfrm>
          <a:prstGeom prst="roundRect">
            <a:avLst>
              <a:gd name="adj" fmla="val 8839"/>
            </a:avLst>
          </a:prstGeom>
          <a:solidFill>
            <a:srgbClr val="FFFFFF"/>
          </a:solidFill>
          <a:ln w="6350">
            <a:solidFill>
              <a:srgbClr val="E2DDD0"/>
            </a:solidFill>
            <a:prstDash val="solid"/>
          </a:ln>
        </p:spPr>
      </p:sp>
      <p:sp>
        <p:nvSpPr>
          <p:cNvPr id="17" name="Text 15"/>
          <p:cNvSpPr/>
          <p:nvPr/>
        </p:nvSpPr>
        <p:spPr>
          <a:xfrm>
            <a:off x="996244" y="3862915"/>
            <a:ext cx="10505497"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B3A"/>
                </a:solidFill>
                <a:latin typeface="Inter" pitchFamily="34" charset="0"/>
                <a:ea typeface="Inter" pitchFamily="34" charset="-122"/>
                <a:cs typeface="Inter" pitchFamily="34" charset="-120"/>
              </a:rPr>
              <a:t>Business model</a:t>
            </a:r>
            <a:endParaRPr lang="en-US" sz="1600" dirty="0"/>
          </a:p>
        </p:txBody>
      </p:sp>
      <p:sp>
        <p:nvSpPr>
          <p:cNvPr id="18" name="Text 16"/>
          <p:cNvSpPr/>
          <p:nvPr/>
        </p:nvSpPr>
        <p:spPr>
          <a:xfrm>
            <a:off x="996244" y="4170189"/>
            <a:ext cx="10505497" cy="4711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B3A"/>
                </a:solidFill>
                <a:latin typeface="Inter" pitchFamily="34" charset="0"/>
                <a:ea typeface="Inter" pitchFamily="34" charset="-122"/>
                <a:cs typeface="Inter" pitchFamily="34" charset="-120"/>
              </a:rPr>
              <a:t>Freemium (first 30 receipts a month free), then per-tenant tiers by receipt volume, plus partner revenue share through Orbyte with QR payment and e-invoicing providers.</a:t>
            </a:r>
            <a:endParaRPr lang="en-US" sz="1300" dirty="0"/>
          </a:p>
        </p:txBody>
      </p:sp>
      <p:sp>
        <p:nvSpPr>
          <p:cNvPr id="19" name="Text 17"/>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07A"/>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63A"/>
        </a:solidFill>
      </p:bgPr>
    </p:bg>
    <p:spTree>
      <p:nvGrpSpPr>
        <p:cNvPr id="1" name=""/>
        <p:cNvGrpSpPr/>
        <p:nvPr/>
      </p:nvGrpSpPr>
      <p:grpSpPr>
        <a:xfrm>
          <a:off x="0" y="0"/>
          <a:ext cx="0" cy="0"/>
          <a:chOff x="0" y="0"/>
          <a:chExt cx="0" cy="0"/>
        </a:xfrm>
      </p:grpSpPr>
      <p:sp>
        <p:nvSpPr>
          <p:cNvPr id="2" name="Text 0"/>
          <p:cNvSpPr/>
          <p:nvPr/>
        </p:nvSpPr>
        <p:spPr>
          <a:xfrm>
            <a:off x="812800" y="812800"/>
            <a:ext cx="10883392" cy="41654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5B544"/>
                </a:solidFill>
                <a:latin typeface="Inter" pitchFamily="34" charset="0"/>
                <a:ea typeface="Inter" pitchFamily="34" charset="-122"/>
                <a:cs typeface="Inter" pitchFamily="34" charset="-120"/>
              </a:rPr>
              <a:t>8. Why Orbit Should Win</a:t>
            </a:r>
            <a:endParaRPr lang="en-US" sz="2800" dirty="0"/>
          </a:p>
        </p:txBody>
      </p:sp>
      <p:sp>
        <p:nvSpPr>
          <p:cNvPr id="3" name="Text 1"/>
          <p:cNvSpPr/>
          <p:nvPr/>
        </p:nvSpPr>
        <p:spPr>
          <a:xfrm>
            <a:off x="812800" y="1305545"/>
            <a:ext cx="1088339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EEF0FF"/>
                </a:solidFill>
                <a:latin typeface="Inter" pitchFamily="34" charset="0"/>
                <a:ea typeface="Inter" pitchFamily="34" charset="-122"/>
                <a:cs typeface="Inter" pitchFamily="34" charset="-120"/>
              </a:rPr>
              <a:t>One recurring burden removed for Malaysian SMEs, with people in control.</a:t>
            </a:r>
            <a:endParaRPr lang="en-US" sz="1800" dirty="0"/>
          </a:p>
        </p:txBody>
      </p:sp>
      <p:sp>
        <p:nvSpPr>
          <p:cNvPr id="4" name="Text 2"/>
          <p:cNvSpPr/>
          <p:nvPr/>
        </p:nvSpPr>
        <p:spPr>
          <a:xfrm>
            <a:off x="812800" y="1831268"/>
            <a:ext cx="350570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B544"/>
                </a:solidFill>
                <a:latin typeface="Inter" pitchFamily="34" charset="0"/>
                <a:ea typeface="Inter" pitchFamily="34" charset="-122"/>
                <a:cs typeface="Inter" pitchFamily="34" charset="-120"/>
              </a:rPr>
              <a:t>Live</a:t>
            </a:r>
            <a:endParaRPr lang="en-US" sz="4800" dirty="0"/>
          </a:p>
        </p:txBody>
      </p:sp>
      <p:sp>
        <p:nvSpPr>
          <p:cNvPr id="5" name="Text 3"/>
          <p:cNvSpPr/>
          <p:nvPr/>
        </p:nvSpPr>
        <p:spPr>
          <a:xfrm>
            <a:off x="812800" y="2491668"/>
            <a:ext cx="3505708"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8AFD6"/>
                </a:solidFill>
                <a:latin typeface="Inter" pitchFamily="34" charset="0"/>
                <a:ea typeface="Inter" pitchFamily="34" charset="-122"/>
                <a:cs typeface="Inter" pitchFamily="34" charset="-120"/>
              </a:rPr>
              <a:t>core journey, end to end</a:t>
            </a:r>
            <a:endParaRPr lang="en-US" sz="1400" dirty="0"/>
          </a:p>
        </p:txBody>
      </p:sp>
      <p:sp>
        <p:nvSpPr>
          <p:cNvPr id="6" name="Text 4"/>
          <p:cNvSpPr/>
          <p:nvPr/>
        </p:nvSpPr>
        <p:spPr>
          <a:xfrm>
            <a:off x="4394200" y="1831268"/>
            <a:ext cx="350570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B544"/>
                </a:solidFill>
                <a:latin typeface="Inter" pitchFamily="34" charset="0"/>
                <a:ea typeface="Inter" pitchFamily="34" charset="-122"/>
                <a:cs typeface="Inter" pitchFamily="34" charset="-120"/>
              </a:rPr>
              <a:t>0</a:t>
            </a:r>
            <a:endParaRPr lang="en-US" sz="4800" dirty="0"/>
          </a:p>
        </p:txBody>
      </p:sp>
      <p:sp>
        <p:nvSpPr>
          <p:cNvPr id="7" name="Text 5"/>
          <p:cNvSpPr/>
          <p:nvPr/>
        </p:nvSpPr>
        <p:spPr>
          <a:xfrm>
            <a:off x="4394200" y="2491668"/>
            <a:ext cx="3581400"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8AFD6"/>
                </a:solidFill>
                <a:latin typeface="Inter" pitchFamily="34" charset="0"/>
                <a:ea typeface="Inter" pitchFamily="34" charset="-122"/>
                <a:cs typeface="Inter" pitchFamily="34" charset="-120"/>
              </a:rPr>
              <a:t>confident wrong matches on 50 receipts</a:t>
            </a:r>
            <a:endParaRPr lang="en-US" sz="1400" dirty="0"/>
          </a:p>
        </p:txBody>
      </p:sp>
      <p:sp>
        <p:nvSpPr>
          <p:cNvPr id="8" name="Text 6"/>
          <p:cNvSpPr/>
          <p:nvPr/>
        </p:nvSpPr>
        <p:spPr>
          <a:xfrm>
            <a:off x="7975600" y="1831268"/>
            <a:ext cx="350570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B544"/>
                </a:solidFill>
                <a:latin typeface="Inter" pitchFamily="34" charset="0"/>
                <a:ea typeface="Inter" pitchFamily="34" charset="-122"/>
                <a:cs typeface="Inter" pitchFamily="34" charset="-120"/>
              </a:rPr>
              <a:t>7</a:t>
            </a:r>
            <a:endParaRPr lang="en-US" sz="4800" dirty="0"/>
          </a:p>
        </p:txBody>
      </p:sp>
      <p:sp>
        <p:nvSpPr>
          <p:cNvPr id="9" name="Text 7"/>
          <p:cNvSpPr/>
          <p:nvPr/>
        </p:nvSpPr>
        <p:spPr>
          <a:xfrm>
            <a:off x="7975600" y="2491668"/>
            <a:ext cx="4084320"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8AFD6"/>
                </a:solidFill>
                <a:latin typeface="Inter" pitchFamily="34" charset="0"/>
                <a:ea typeface="Inter" pitchFamily="34" charset="-122"/>
                <a:cs typeface="Inter" pitchFamily="34" charset="-120"/>
              </a:rPr>
              <a:t>Orbyte endpoints behind one connector</a:t>
            </a:r>
            <a:endParaRPr lang="en-US" sz="1400" dirty="0"/>
          </a:p>
        </p:txBody>
      </p:sp>
      <p:sp>
        <p:nvSpPr>
          <p:cNvPr id="10" name="Text 8"/>
          <p:cNvSpPr/>
          <p:nvPr/>
        </p:nvSpPr>
        <p:spPr>
          <a:xfrm>
            <a:off x="812800" y="2960247"/>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EEF0FF"/>
                </a:solidFill>
                <a:latin typeface="Inter" pitchFamily="34" charset="0"/>
                <a:ea typeface="Inter" pitchFamily="34" charset="-122"/>
                <a:cs typeface="Inter" pitchFamily="34" charset="-120"/>
              </a:rPr>
              <a:t>Thank you</a:t>
            </a:r>
            <a:endParaRPr lang="en-US" sz="3200" dirty="0"/>
          </a:p>
        </p:txBody>
      </p:sp>
      <p:sp>
        <p:nvSpPr>
          <p:cNvPr id="11" name="Text 9"/>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AFD6"/>
                </a:solidFill>
                <a:latin typeface="Inter" pitchFamily="34" charset="0"/>
                <a:ea typeface="Inter" pitchFamily="34" charset="-122"/>
                <a:cs typeface="Inter" pitchFamily="34" charset="-120"/>
              </a:rPr>
              <a:t>Orbit · payment reconciliation for the Orbyte hub</a:t>
            </a:r>
            <a:endParaRPr lang="en-US" sz="1200" dirty="0"/>
          </a:p>
        </p:txBody>
      </p:sp>
    </p:spTree>
  </p:cSld>
  <p:clrMapOvr>
    <a:masterClrMapping/>
  </p:clrMapOvr>
</p:sld>
</file>

<file path=ppt/theme/theme1.xml><?xml version="1.0" encoding="utf-8"?>
<a:theme xmlns:a="http://schemas.openxmlformats.org/drawingml/2006/main" name="Orbit — Pitch Deck">
  <a:themeElements>
    <a:clrScheme name="Orbit — Pitch Deck">
      <a:dk1>
        <a:srgbClr val="4338CA"/>
      </a:dk1>
      <a:lt1>
        <a:srgbClr val="F6F3EC"/>
      </a:lt1>
      <a:dk2>
        <a:srgbClr val="7067D3"/>
      </a:dk2>
      <a:lt2>
        <a:srgbClr val="E4E0E9"/>
      </a:lt2>
      <a:accent1>
        <a:srgbClr val="A8AFD6"/>
      </a:accent1>
      <a:accent2>
        <a:srgbClr val="F5B544"/>
      </a:accent2>
      <a:accent3>
        <a:srgbClr val="12163A"/>
      </a:accent3>
      <a:accent4>
        <a:srgbClr val="161B3A"/>
      </a:accent4>
      <a:accent5>
        <a:srgbClr val="5A607A"/>
      </a:accent5>
      <a:accent6>
        <a:srgbClr val="9AA0A6"/>
      </a:accent6>
      <a:hlink>
        <a:srgbClr val="0563C1"/>
      </a:hlink>
      <a:folHlink>
        <a:srgbClr val="954F72"/>
      </a:folHlink>
    </a:clrScheme>
    <a:fontScheme name="Orbit — Pitch Deck">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 —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2026-10-24T18:38:39Z</dcterms:created>
  <dcterms:modified xsi:type="dcterms:W3CDTF">2026-10-24T18:38:39Z</dcterms:modified>
</cp:coreProperties>
</file>
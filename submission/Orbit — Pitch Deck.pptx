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00503000000020004"/>
      <p:regular r:id="rId19"/>
    </p:embeddedFont>
    <p:embeddedFont>
      <p:font typeface="Inter" charset="1" panose="0200050300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orbit-casimirchiong.replit.app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15800" y="1905000"/>
            <a:ext cx="4953000" cy="4953000"/>
            <a:chOff x="0" y="0"/>
            <a:chExt cx="6604000" cy="6604000"/>
          </a:xfrm>
        </p:grpSpPr>
        <p:sp>
          <p:nvSpPr>
            <p:cNvPr name="Freeform 3" id="3" descr="Orbit rings graphic"/>
            <p:cNvSpPr/>
            <p:nvPr/>
          </p:nvSpPr>
          <p:spPr>
            <a:xfrm flipH="false" flipV="false" rot="0">
              <a:off x="0" y="0"/>
              <a:ext cx="6604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6604000"/>
                  </a:lnTo>
                  <a:lnTo>
                    <a:pt x="0" y="660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19200" y="1171575"/>
            <a:ext cx="16325088" cy="43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F5B544"/>
                </a:solidFill>
                <a:latin typeface="Inter Bold"/>
                <a:ea typeface="Inter Bold"/>
                <a:cs typeface="Inter Bold"/>
                <a:sym typeface="Inter Bold"/>
              </a:rPr>
              <a:t>S.D.C. HACKATHON 2026 · DOMAIN 2 · ORBYTE SMART SME CHALLENGE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3423447"/>
            <a:ext cx="10301288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sz="13200" b="true">
                <a:solidFill>
                  <a:srgbClr val="EEF0FF"/>
                </a:solidFill>
                <a:latin typeface="Inter Bold"/>
                <a:ea typeface="Inter Bold"/>
                <a:cs typeface="Inter Bold"/>
                <a:sym typeface="Inter Bold"/>
              </a:rPr>
              <a:t>Orbit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200" y="5071272"/>
            <a:ext cx="10301288" cy="63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true">
                <a:solidFill>
                  <a:srgbClr val="EEF0FF"/>
                </a:solidFill>
                <a:latin typeface="Inter Bold"/>
                <a:ea typeface="Inter Bold"/>
                <a:cs typeface="Inter Bold"/>
                <a:sym typeface="Inter Bold"/>
              </a:rPr>
              <a:t>Stop chasing receipts on WhatsApp.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5817927"/>
            <a:ext cx="10301288" cy="89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A8AFD6"/>
                </a:solidFill>
                <a:latin typeface="Inter"/>
                <a:ea typeface="Inter"/>
                <a:cs typeface="Inter"/>
                <a:sym typeface="Inter"/>
              </a:rPr>
              <a:t>Payment reconciliation for the Orbyte hub: receipt in, invoice matched, owner approves, ledger updated.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8250765"/>
            <a:ext cx="16325088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EEF0FF"/>
                </a:solidFill>
                <a:latin typeface="Inter"/>
                <a:ea typeface="Inter"/>
                <a:cs typeface="Inter"/>
                <a:sym typeface="Inter"/>
              </a:rPr>
              <a:t>Team: Atlas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9200" y="8673570"/>
            <a:ext cx="16325088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A8AFD6"/>
                </a:solidFill>
                <a:latin typeface="Inter"/>
                <a:ea typeface="Inter"/>
                <a:cs typeface="Inter"/>
                <a:sym typeface="Inter"/>
              </a:rPr>
              <a:t>github: https://github.com/Reqqa/Orbit </a:t>
            </a:r>
          </a:p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A8AFD6"/>
                </a:solidFill>
                <a:latin typeface="Inter"/>
                <a:ea typeface="Inter"/>
                <a:cs typeface="Inter"/>
                <a:sym typeface="Inter"/>
              </a:rPr>
              <a:t>video: https://youtu.be/oLzOzDHE0Qs</a:t>
            </a:r>
          </a:p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A8AFD6"/>
                </a:solidFill>
                <a:latin typeface="Inter"/>
                <a:ea typeface="Inter"/>
                <a:cs typeface="Inter"/>
                <a:sym typeface="Inter"/>
              </a:rPr>
              <a:t>prototype: </a:t>
            </a:r>
            <a:r>
              <a:rPr lang="en-US" sz="1950" u="sng">
                <a:solidFill>
                  <a:srgbClr val="A8AFD6"/>
                </a:solidFill>
                <a:latin typeface="Inter"/>
                <a:ea typeface="Inter"/>
                <a:cs typeface="Inter"/>
                <a:sym typeface="Inter"/>
                <a:hlinkClick r:id="rId4" tooltip="https://orbit-casimirchiong.replit.app"/>
              </a:rPr>
              <a:t>https://orbit-casimirchiong.replit.app</a:t>
            </a:r>
            <a:r>
              <a:rPr lang="en-US" sz="1950">
                <a:solidFill>
                  <a:srgbClr val="A8AFD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9319289"/>
            <a:ext cx="11772900" cy="39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07A"/>
                </a:solidFill>
                <a:latin typeface="Inter"/>
                <a:ea typeface="Inter"/>
                <a:cs typeface="Inter"/>
                <a:sym typeface="Inter"/>
              </a:rPr>
              <a:t>Orbit · payment reconciliation for the Orbyte hub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257300"/>
            <a:ext cx="16325088" cy="58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Team Information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1929736"/>
            <a:ext cx="16325088" cy="51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Who is behind Orbit.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19200" y="2743200"/>
            <a:ext cx="15849600" cy="4659316"/>
            <a:chOff x="0" y="0"/>
            <a:chExt cx="21132800" cy="62124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132800" cy="6212332"/>
            </a:xfrm>
            <a:custGeom>
              <a:avLst/>
              <a:gdLst/>
              <a:ahLst/>
              <a:cxnLst/>
              <a:rect r="r" b="b" t="t" l="l"/>
              <a:pathLst>
                <a:path h="6212332" w="2113280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20935569" y="0"/>
                  </a:lnTo>
                  <a:cubicBezTo>
                    <a:pt x="21044534" y="0"/>
                    <a:pt x="21132800" y="88265"/>
                    <a:pt x="21132800" y="197231"/>
                  </a:cubicBezTo>
                  <a:lnTo>
                    <a:pt x="21132800" y="6015101"/>
                  </a:lnTo>
                  <a:cubicBezTo>
                    <a:pt x="21132800" y="6124067"/>
                    <a:pt x="21044534" y="6212332"/>
                    <a:pt x="20935569" y="6212332"/>
                  </a:cubicBezTo>
                  <a:lnTo>
                    <a:pt x="197231" y="6212332"/>
                  </a:lnTo>
                  <a:cubicBezTo>
                    <a:pt x="88265" y="6212459"/>
                    <a:pt x="0" y="6124067"/>
                    <a:pt x="0" y="601522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532468" y="3056468"/>
            <a:ext cx="15679760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Members (2–5)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549399" y="3534305"/>
          <a:ext cx="15201900" cy="3143250"/>
        </p:xfrm>
        <a:graphic>
          <a:graphicData uri="http://schemas.openxmlformats.org/drawingml/2006/table">
            <a:tbl>
              <a:tblPr/>
              <a:tblGrid>
                <a:gridCol w="7600950"/>
                <a:gridCol w="7600950"/>
              </a:tblGrid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5A607A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Member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5A607A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Name and role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5A607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Member 1 (Leader) 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161B3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Tharmunieshwar / Lead AI Engineer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5A607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Member 2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161B3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Casimir Chiong / Implementation 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5A607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Member 3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161B3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Shau Loon / Backend Engineer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5A607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Member 4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161B3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Gwee Jee See / Video and Slides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532468" y="6752168"/>
            <a:ext cx="15679760" cy="37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A607A"/>
                </a:solidFill>
                <a:latin typeface="Inter"/>
                <a:ea typeface="Inter"/>
                <a:cs typeface="Inter"/>
                <a:sym typeface="Inter"/>
              </a:rPr>
              <a:t>Delete any unused member. One person can hold two roles.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58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1. The Problem &amp; Target User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929736"/>
            <a:ext cx="16325088" cy="958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Malaysian SMEs get paid through WhatsApp screenshots, and the owner reconciles each one by hand.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3192599"/>
            <a:ext cx="5105400" cy="1843745"/>
            <a:chOff x="0" y="0"/>
            <a:chExt cx="6807200" cy="24583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07200" cy="2458339"/>
            </a:xfrm>
            <a:custGeom>
              <a:avLst/>
              <a:gdLst/>
              <a:ahLst/>
              <a:cxnLst/>
              <a:rect r="r" b="b" t="t" l="l"/>
              <a:pathLst>
                <a:path h="2458339" w="6807200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6609334" y="0"/>
                  </a:lnTo>
                  <a:cubicBezTo>
                    <a:pt x="6718554" y="0"/>
                    <a:pt x="6807200" y="88646"/>
                    <a:pt x="6807200" y="197866"/>
                  </a:cubicBezTo>
                  <a:lnTo>
                    <a:pt x="6807200" y="2260473"/>
                  </a:lnTo>
                  <a:cubicBezTo>
                    <a:pt x="6807200" y="2369693"/>
                    <a:pt x="6718554" y="2458339"/>
                    <a:pt x="6609334" y="2458339"/>
                  </a:cubicBezTo>
                  <a:lnTo>
                    <a:pt x="197866" y="2458339"/>
                  </a:lnTo>
                  <a:cubicBezTo>
                    <a:pt x="88646" y="2458339"/>
                    <a:pt x="0" y="2369693"/>
                    <a:pt x="0" y="226047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94368" y="3505867"/>
            <a:ext cx="4691720" cy="58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2–4 min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4368" y="4054478"/>
            <a:ext cx="4691720" cy="744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per receipt: open the chat, read it, check the invoice, key it in, reply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91300" y="3192599"/>
            <a:ext cx="5105400" cy="1843745"/>
            <a:chOff x="0" y="0"/>
            <a:chExt cx="6807200" cy="24583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07200" cy="2458339"/>
            </a:xfrm>
            <a:custGeom>
              <a:avLst/>
              <a:gdLst/>
              <a:ahLst/>
              <a:cxnLst/>
              <a:rect r="r" b="b" t="t" l="l"/>
              <a:pathLst>
                <a:path h="2458339" w="6807200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6609334" y="0"/>
                  </a:lnTo>
                  <a:cubicBezTo>
                    <a:pt x="6718554" y="0"/>
                    <a:pt x="6807200" y="88646"/>
                    <a:pt x="6807200" y="197866"/>
                  </a:cubicBezTo>
                  <a:lnTo>
                    <a:pt x="6807200" y="2260473"/>
                  </a:lnTo>
                  <a:cubicBezTo>
                    <a:pt x="6807200" y="2369693"/>
                    <a:pt x="6718554" y="2458339"/>
                    <a:pt x="6609334" y="2458339"/>
                  </a:cubicBezTo>
                  <a:lnTo>
                    <a:pt x="197866" y="2458339"/>
                  </a:lnTo>
                  <a:cubicBezTo>
                    <a:pt x="88646" y="2458339"/>
                    <a:pt x="0" y="2369693"/>
                    <a:pt x="0" y="226047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6866468" y="3505867"/>
            <a:ext cx="4691720" cy="58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4–8 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66468" y="4054478"/>
            <a:ext cx="4691720" cy="744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per week on reconciliation and chasing late payers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963400" y="3192599"/>
            <a:ext cx="5105400" cy="1843745"/>
            <a:chOff x="0" y="0"/>
            <a:chExt cx="6807200" cy="24583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07200" cy="2458339"/>
            </a:xfrm>
            <a:custGeom>
              <a:avLst/>
              <a:gdLst/>
              <a:ahLst/>
              <a:cxnLst/>
              <a:rect r="r" b="b" t="t" l="l"/>
              <a:pathLst>
                <a:path h="2458339" w="6807200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6609334" y="0"/>
                  </a:lnTo>
                  <a:cubicBezTo>
                    <a:pt x="6718554" y="0"/>
                    <a:pt x="6807200" y="88646"/>
                    <a:pt x="6807200" y="197866"/>
                  </a:cubicBezTo>
                  <a:lnTo>
                    <a:pt x="6807200" y="2260473"/>
                  </a:lnTo>
                  <a:cubicBezTo>
                    <a:pt x="6807200" y="2369693"/>
                    <a:pt x="6718554" y="2458339"/>
                    <a:pt x="6609334" y="2458339"/>
                  </a:cubicBezTo>
                  <a:lnTo>
                    <a:pt x="197866" y="2458339"/>
                  </a:lnTo>
                  <a:cubicBezTo>
                    <a:pt x="88646" y="2458339"/>
                    <a:pt x="0" y="2369693"/>
                    <a:pt x="0" y="226047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238568" y="3505867"/>
            <a:ext cx="4691720" cy="58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1 wrong key-in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38568" y="4054478"/>
            <a:ext cx="4691720" cy="41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can go unnoticed for a month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9200" y="5350669"/>
            <a:ext cx="16325088" cy="37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A607A"/>
                </a:solidFill>
                <a:latin typeface="Inter"/>
                <a:ea typeface="Inter"/>
                <a:cs typeface="Inter"/>
                <a:sym typeface="Inter"/>
              </a:rPr>
              <a:t>Assumed manual baseline, to be validated in a pilot. Demo data is synthetic.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9200" y="5992549"/>
            <a:ext cx="16325088" cy="39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WHO WE BUILD FOR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19200" y="6693560"/>
            <a:ext cx="3762375" cy="1679839"/>
            <a:chOff x="0" y="0"/>
            <a:chExt cx="5016500" cy="22397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16500" cy="2239772"/>
            </a:xfrm>
            <a:custGeom>
              <a:avLst/>
              <a:gdLst/>
              <a:ahLst/>
              <a:cxnLst/>
              <a:rect r="r" b="b" t="t" l="l"/>
              <a:pathLst>
                <a:path h="2239772" w="5016500">
                  <a:moveTo>
                    <a:pt x="0" y="197993"/>
                  </a:moveTo>
                  <a:cubicBezTo>
                    <a:pt x="0" y="88646"/>
                    <a:pt x="88646" y="0"/>
                    <a:pt x="197993" y="0"/>
                  </a:cubicBezTo>
                  <a:lnTo>
                    <a:pt x="4818507" y="0"/>
                  </a:lnTo>
                  <a:cubicBezTo>
                    <a:pt x="4927854" y="0"/>
                    <a:pt x="5016500" y="88646"/>
                    <a:pt x="5016500" y="197993"/>
                  </a:cubicBezTo>
                  <a:lnTo>
                    <a:pt x="5016500" y="2041779"/>
                  </a:lnTo>
                  <a:cubicBezTo>
                    <a:pt x="5016500" y="2151126"/>
                    <a:pt x="4927854" y="2239772"/>
                    <a:pt x="4818507" y="2239772"/>
                  </a:cubicBezTo>
                  <a:lnTo>
                    <a:pt x="197993" y="2239772"/>
                  </a:lnTo>
                  <a:cubicBezTo>
                    <a:pt x="88646" y="2239772"/>
                    <a:pt x="0" y="2151126"/>
                    <a:pt x="0" y="204177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494368" y="6968728"/>
            <a:ext cx="3308404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Owners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94368" y="7391533"/>
            <a:ext cx="3308404" cy="744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Approves what matters, sees everything.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248275" y="6693560"/>
            <a:ext cx="3762375" cy="1679839"/>
            <a:chOff x="0" y="0"/>
            <a:chExt cx="5016500" cy="223978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16500" cy="2239772"/>
            </a:xfrm>
            <a:custGeom>
              <a:avLst/>
              <a:gdLst/>
              <a:ahLst/>
              <a:cxnLst/>
              <a:rect r="r" b="b" t="t" l="l"/>
              <a:pathLst>
                <a:path h="2239772" w="5016500">
                  <a:moveTo>
                    <a:pt x="0" y="197993"/>
                  </a:moveTo>
                  <a:cubicBezTo>
                    <a:pt x="0" y="88646"/>
                    <a:pt x="88646" y="0"/>
                    <a:pt x="197993" y="0"/>
                  </a:cubicBezTo>
                  <a:lnTo>
                    <a:pt x="4818507" y="0"/>
                  </a:lnTo>
                  <a:cubicBezTo>
                    <a:pt x="4927854" y="0"/>
                    <a:pt x="5016500" y="88646"/>
                    <a:pt x="5016500" y="197993"/>
                  </a:cubicBezTo>
                  <a:lnTo>
                    <a:pt x="5016500" y="2041779"/>
                  </a:lnTo>
                  <a:cubicBezTo>
                    <a:pt x="5016500" y="2151126"/>
                    <a:pt x="4927854" y="2239772"/>
                    <a:pt x="4818507" y="2239772"/>
                  </a:cubicBezTo>
                  <a:lnTo>
                    <a:pt x="197993" y="2239772"/>
                  </a:lnTo>
                  <a:cubicBezTo>
                    <a:pt x="88646" y="2239772"/>
                    <a:pt x="0" y="2151126"/>
                    <a:pt x="0" y="204177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5523443" y="6968728"/>
            <a:ext cx="3308404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Finance staff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23443" y="7391533"/>
            <a:ext cx="3308404" cy="744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Approves routine matches up to a limit.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277350" y="6693560"/>
            <a:ext cx="3762375" cy="1679839"/>
            <a:chOff x="0" y="0"/>
            <a:chExt cx="5016500" cy="223978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16500" cy="2239772"/>
            </a:xfrm>
            <a:custGeom>
              <a:avLst/>
              <a:gdLst/>
              <a:ahLst/>
              <a:cxnLst/>
              <a:rect r="r" b="b" t="t" l="l"/>
              <a:pathLst>
                <a:path h="2239772" w="5016500">
                  <a:moveTo>
                    <a:pt x="0" y="197993"/>
                  </a:moveTo>
                  <a:cubicBezTo>
                    <a:pt x="0" y="88646"/>
                    <a:pt x="88646" y="0"/>
                    <a:pt x="197993" y="0"/>
                  </a:cubicBezTo>
                  <a:lnTo>
                    <a:pt x="4818507" y="0"/>
                  </a:lnTo>
                  <a:cubicBezTo>
                    <a:pt x="4927854" y="0"/>
                    <a:pt x="5016500" y="88646"/>
                    <a:pt x="5016500" y="197993"/>
                  </a:cubicBezTo>
                  <a:lnTo>
                    <a:pt x="5016500" y="2041779"/>
                  </a:lnTo>
                  <a:cubicBezTo>
                    <a:pt x="5016500" y="2151126"/>
                    <a:pt x="4927854" y="2239772"/>
                    <a:pt x="4818507" y="2239772"/>
                  </a:cubicBezTo>
                  <a:lnTo>
                    <a:pt x="197993" y="2239772"/>
                  </a:lnTo>
                  <a:cubicBezTo>
                    <a:pt x="88646" y="2239772"/>
                    <a:pt x="0" y="2151126"/>
                    <a:pt x="0" y="204177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9552518" y="6968728"/>
            <a:ext cx="3308404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Sales staff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52518" y="7391533"/>
            <a:ext cx="3308404" cy="744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Sees own customers only. Cannot approve.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306425" y="6693560"/>
            <a:ext cx="3762375" cy="1679839"/>
            <a:chOff x="0" y="0"/>
            <a:chExt cx="5016500" cy="223978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16500" cy="2239772"/>
            </a:xfrm>
            <a:custGeom>
              <a:avLst/>
              <a:gdLst/>
              <a:ahLst/>
              <a:cxnLst/>
              <a:rect r="r" b="b" t="t" l="l"/>
              <a:pathLst>
                <a:path h="2239772" w="5016500">
                  <a:moveTo>
                    <a:pt x="0" y="197993"/>
                  </a:moveTo>
                  <a:cubicBezTo>
                    <a:pt x="0" y="88646"/>
                    <a:pt x="88646" y="0"/>
                    <a:pt x="197993" y="0"/>
                  </a:cubicBezTo>
                  <a:lnTo>
                    <a:pt x="4818507" y="0"/>
                  </a:lnTo>
                  <a:cubicBezTo>
                    <a:pt x="4927854" y="0"/>
                    <a:pt x="5016500" y="88646"/>
                    <a:pt x="5016500" y="197993"/>
                  </a:cubicBezTo>
                  <a:lnTo>
                    <a:pt x="5016500" y="2041779"/>
                  </a:lnTo>
                  <a:cubicBezTo>
                    <a:pt x="5016500" y="2151126"/>
                    <a:pt x="4927854" y="2239772"/>
                    <a:pt x="4818507" y="2239772"/>
                  </a:cubicBezTo>
                  <a:lnTo>
                    <a:pt x="197993" y="2239772"/>
                  </a:lnTo>
                  <a:cubicBezTo>
                    <a:pt x="88646" y="2239772"/>
                    <a:pt x="0" y="2151126"/>
                    <a:pt x="0" y="204177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3581593" y="6968728"/>
            <a:ext cx="3308404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Customers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81593" y="7391533"/>
            <a:ext cx="3308404" cy="744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Sends the receipt on WhatsApp. No dashboard.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19200" y="9319289"/>
            <a:ext cx="11772900" cy="39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07A"/>
                </a:solidFill>
                <a:latin typeface="Inter"/>
                <a:ea typeface="Inter"/>
                <a:cs typeface="Inter"/>
                <a:sym typeface="Inter"/>
              </a:rPr>
              <a:t>Orbit · payment reconciliation for the Orbyte hub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58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2. Solution &amp; Innovation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929736"/>
            <a:ext cx="16325088" cy="51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AI only reads the receipt. Rules decide. A person approves.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236134" y="2763839"/>
          <a:ext cx="15830550" cy="4000500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  <a:gridCol w="5276850"/>
              </a:tblGrid>
              <a:tr h="666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5A607A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Today: WhatsApp plus spreadsheet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4338CA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With Orbit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</a:tr>
              <a:tr h="666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161B3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Read the receipt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5A607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Owner squints at a screenshot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4338C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reads the image, nothing more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161B3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Match to an invoice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5A607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Eyeball plus spreadsheet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4338C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100-point scorecard, with reasons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161B3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Record the payment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5A607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Owner keys it in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4338C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One-tap approval by the right role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161B3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Chase late payers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5A607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 hoc, easy to forget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4338C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Reminder ladder, batch-approved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161B3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Keep a record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5A607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Spreadsheet edits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4338C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Hash-chained, tamper-evident log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219200" y="7078666"/>
            <a:ext cx="16325088" cy="41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5A607A"/>
                </a:solidFill>
                <a:latin typeface="Inter"/>
                <a:ea typeface="Inter"/>
                <a:cs typeface="Inter"/>
                <a:sym typeface="Inter"/>
              </a:rPr>
              <a:t>A workflow product, not a chatbot. It adds receivables, not Orbyte's existing HR and admin functions.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200" y="9319289"/>
            <a:ext cx="11772900" cy="39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07A"/>
                </a:solidFill>
                <a:latin typeface="Inter"/>
                <a:ea typeface="Inter"/>
                <a:cs typeface="Inter"/>
                <a:sym typeface="Inter"/>
              </a:rPr>
              <a:t>Orbit · payment reconciliation for the Orbyte hub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58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3. How it Works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929736"/>
            <a:ext cx="16325088" cy="51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From a WhatsApp screenshot to a recorded payment, with a person approving.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746905"/>
            <a:ext cx="2956455" cy="3098006"/>
            <a:chOff x="0" y="0"/>
            <a:chExt cx="3941940" cy="41306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41953" cy="4130675"/>
            </a:xfrm>
            <a:custGeom>
              <a:avLst/>
              <a:gdLst/>
              <a:ahLst/>
              <a:cxnLst/>
              <a:rect r="r" b="b" t="t" l="l"/>
              <a:pathLst>
                <a:path h="4130675" w="3941953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744468" y="0"/>
                  </a:lnTo>
                  <a:cubicBezTo>
                    <a:pt x="3853561" y="0"/>
                    <a:pt x="3941953" y="88392"/>
                    <a:pt x="3941953" y="197485"/>
                  </a:cubicBezTo>
                  <a:lnTo>
                    <a:pt x="3941953" y="3933190"/>
                  </a:lnTo>
                  <a:cubicBezTo>
                    <a:pt x="3941953" y="4042283"/>
                    <a:pt x="3853561" y="4130675"/>
                    <a:pt x="3744468" y="4130675"/>
                  </a:cubicBezTo>
                  <a:lnTo>
                    <a:pt x="197485" y="4130675"/>
                  </a:lnTo>
                  <a:cubicBezTo>
                    <a:pt x="88392" y="4130675"/>
                    <a:pt x="0" y="4042283"/>
                    <a:pt x="0" y="393319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94368" y="2983973"/>
            <a:ext cx="2482320" cy="39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4368" y="3437334"/>
            <a:ext cx="2482320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Trigger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4368" y="3860140"/>
            <a:ext cx="2482320" cy="107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Customer sends a receipt on WhatsApp.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442355" y="2746905"/>
            <a:ext cx="2956589" cy="3098006"/>
            <a:chOff x="0" y="0"/>
            <a:chExt cx="3942118" cy="41306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42080" cy="4130675"/>
            </a:xfrm>
            <a:custGeom>
              <a:avLst/>
              <a:gdLst/>
              <a:ahLst/>
              <a:cxnLst/>
              <a:rect r="r" b="b" t="t" l="l"/>
              <a:pathLst>
                <a:path h="4130675" w="394208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744595" y="0"/>
                  </a:lnTo>
                  <a:cubicBezTo>
                    <a:pt x="3853688" y="0"/>
                    <a:pt x="3942080" y="88392"/>
                    <a:pt x="3942080" y="197485"/>
                  </a:cubicBezTo>
                  <a:lnTo>
                    <a:pt x="3942080" y="3933190"/>
                  </a:lnTo>
                  <a:cubicBezTo>
                    <a:pt x="3942080" y="4042283"/>
                    <a:pt x="3853688" y="4130675"/>
                    <a:pt x="3744595" y="4130675"/>
                  </a:cubicBezTo>
                  <a:lnTo>
                    <a:pt x="197485" y="4130675"/>
                  </a:lnTo>
                  <a:cubicBezTo>
                    <a:pt x="88392" y="4130675"/>
                    <a:pt x="0" y="4042283"/>
                    <a:pt x="0" y="393319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4717523" y="2983973"/>
            <a:ext cx="2482453" cy="39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17523" y="3437334"/>
            <a:ext cx="2671896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Connected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17523" y="3860140"/>
            <a:ext cx="2482453" cy="141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Open invoices, customers and roles come through the Orbyte connector.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665644" y="2746905"/>
            <a:ext cx="2956589" cy="3098006"/>
            <a:chOff x="0" y="0"/>
            <a:chExt cx="3942118" cy="41306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42080" cy="4130675"/>
            </a:xfrm>
            <a:custGeom>
              <a:avLst/>
              <a:gdLst/>
              <a:ahLst/>
              <a:cxnLst/>
              <a:rect r="r" b="b" t="t" l="l"/>
              <a:pathLst>
                <a:path h="4130675" w="394208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744595" y="0"/>
                  </a:lnTo>
                  <a:cubicBezTo>
                    <a:pt x="3853688" y="0"/>
                    <a:pt x="3942080" y="88392"/>
                    <a:pt x="3942080" y="197485"/>
                  </a:cubicBezTo>
                  <a:lnTo>
                    <a:pt x="3942080" y="3933190"/>
                  </a:lnTo>
                  <a:cubicBezTo>
                    <a:pt x="3942080" y="4042283"/>
                    <a:pt x="3853688" y="4130675"/>
                    <a:pt x="3744595" y="4130675"/>
                  </a:cubicBezTo>
                  <a:lnTo>
                    <a:pt x="197485" y="4130675"/>
                  </a:lnTo>
                  <a:cubicBezTo>
                    <a:pt x="88392" y="4130675"/>
                    <a:pt x="0" y="4042283"/>
                    <a:pt x="0" y="393319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7940802" y="2983973"/>
            <a:ext cx="2482453" cy="39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40802" y="3437334"/>
            <a:ext cx="2482453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Decision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40802" y="3860140"/>
            <a:ext cx="2482453" cy="141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One AI call reads the image. A rules scorecard matches and classifies it.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888923" y="2746905"/>
            <a:ext cx="2956589" cy="3098006"/>
            <a:chOff x="0" y="0"/>
            <a:chExt cx="3942118" cy="41306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42080" cy="4130675"/>
            </a:xfrm>
            <a:custGeom>
              <a:avLst/>
              <a:gdLst/>
              <a:ahLst/>
              <a:cxnLst/>
              <a:rect r="r" b="b" t="t" l="l"/>
              <a:pathLst>
                <a:path h="4130675" w="394208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744595" y="0"/>
                  </a:lnTo>
                  <a:cubicBezTo>
                    <a:pt x="3853688" y="0"/>
                    <a:pt x="3942080" y="88392"/>
                    <a:pt x="3942080" y="197485"/>
                  </a:cubicBezTo>
                  <a:lnTo>
                    <a:pt x="3942080" y="3933190"/>
                  </a:lnTo>
                  <a:cubicBezTo>
                    <a:pt x="3942080" y="4042283"/>
                    <a:pt x="3853688" y="4130675"/>
                    <a:pt x="3744595" y="4130675"/>
                  </a:cubicBezTo>
                  <a:lnTo>
                    <a:pt x="197485" y="4130675"/>
                  </a:lnTo>
                  <a:cubicBezTo>
                    <a:pt x="88392" y="4130675"/>
                    <a:pt x="0" y="4042283"/>
                    <a:pt x="0" y="393319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1164091" y="2983973"/>
            <a:ext cx="2482453" cy="39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64091" y="3437334"/>
            <a:ext cx="2482453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Approval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64091" y="3860140"/>
            <a:ext cx="2482453" cy="1747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The right role approves with one tap. Limits are enforced on the server.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112211" y="2746905"/>
            <a:ext cx="2956589" cy="3098006"/>
            <a:chOff x="0" y="0"/>
            <a:chExt cx="3942118" cy="41306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42080" cy="4130675"/>
            </a:xfrm>
            <a:custGeom>
              <a:avLst/>
              <a:gdLst/>
              <a:ahLst/>
              <a:cxnLst/>
              <a:rect r="r" b="b" t="t" l="l"/>
              <a:pathLst>
                <a:path h="4130675" w="394208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744595" y="0"/>
                  </a:lnTo>
                  <a:cubicBezTo>
                    <a:pt x="3853688" y="0"/>
                    <a:pt x="3942080" y="88392"/>
                    <a:pt x="3942080" y="197485"/>
                  </a:cubicBezTo>
                  <a:lnTo>
                    <a:pt x="3942080" y="3933190"/>
                  </a:lnTo>
                  <a:cubicBezTo>
                    <a:pt x="3942080" y="4042283"/>
                    <a:pt x="3853688" y="4130675"/>
                    <a:pt x="3744595" y="4130675"/>
                  </a:cubicBezTo>
                  <a:lnTo>
                    <a:pt x="197485" y="4130675"/>
                  </a:lnTo>
                  <a:cubicBezTo>
                    <a:pt x="88392" y="4130675"/>
                    <a:pt x="0" y="4042283"/>
                    <a:pt x="0" y="393319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4387379" y="2983973"/>
            <a:ext cx="2482453" cy="39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387379" y="3437334"/>
            <a:ext cx="2482453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Outcome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387379" y="3860140"/>
            <a:ext cx="2482453" cy="141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Invoice marked paid, customer notified, audit log updated.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9200" y="6149711"/>
            <a:ext cx="16325088" cy="41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Built with</a:t>
            </a: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 Python 3.12 · FastAPI · SQLite · Next.js · Tailwind · Claude vision, swappable behind one interface.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9200" y="6836435"/>
            <a:ext cx="16325088" cy="37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A607A"/>
                </a:solidFill>
                <a:latin typeface="Inter"/>
                <a:ea typeface="Inter"/>
                <a:cs typeface="Inter"/>
                <a:sym typeface="Inter"/>
              </a:rPr>
              <a:t>The demo runs on a built-in WhatsApp simulator that posts the real Cloud API payload shape. It is labelled as simulated on screen.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9200" y="9319289"/>
            <a:ext cx="11772900" cy="39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07A"/>
                </a:solidFill>
                <a:latin typeface="Inter"/>
                <a:ea typeface="Inter"/>
                <a:cs typeface="Inter"/>
                <a:sym typeface="Inter"/>
              </a:rPr>
              <a:t>Orbit · payment reconciliation for the Orbyte hub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58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4. People in Control &amp; Orbyte Fit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929736"/>
            <a:ext cx="16325088" cy="51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Roles, approval and an audit trail, on top of a shared business hub.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746905"/>
            <a:ext cx="7791450" cy="4096150"/>
            <a:chOff x="0" y="0"/>
            <a:chExt cx="10388600" cy="54615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88600" cy="5461508"/>
            </a:xfrm>
            <a:custGeom>
              <a:avLst/>
              <a:gdLst/>
              <a:ahLst/>
              <a:cxnLst/>
              <a:rect r="r" b="b" t="t" l="l"/>
              <a:pathLst>
                <a:path h="5461508" w="1038860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10191242" y="0"/>
                  </a:lnTo>
                  <a:cubicBezTo>
                    <a:pt x="10300208" y="0"/>
                    <a:pt x="10388600" y="88392"/>
                    <a:pt x="10388600" y="197358"/>
                  </a:cubicBezTo>
                  <a:lnTo>
                    <a:pt x="10388600" y="5264150"/>
                  </a:lnTo>
                  <a:cubicBezTo>
                    <a:pt x="10388600" y="5373116"/>
                    <a:pt x="10300208" y="5461508"/>
                    <a:pt x="10191242" y="5461508"/>
                  </a:cubicBezTo>
                  <a:lnTo>
                    <a:pt x="197358" y="5461508"/>
                  </a:lnTo>
                  <a:cubicBezTo>
                    <a:pt x="88392" y="5461508"/>
                    <a:pt x="0" y="5373243"/>
                    <a:pt x="0" y="526415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532468" y="3060173"/>
            <a:ext cx="7379865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People stay in control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9534" y="3482969"/>
            <a:ext cx="7221369" cy="2416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632"/>
              </a:lnSpc>
              <a:buFont typeface="Arial"/>
              <a:buChar char="•"/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Finance approves clean matches up to RM 2,000; the Owner decides the rest</a:t>
            </a:r>
          </a:p>
          <a:p>
            <a:pPr algn="l" marL="352901" indent="-176451" lvl="1">
              <a:lnSpc>
                <a:spcPts val="2632"/>
              </a:lnSpc>
              <a:buFont typeface="Arial"/>
              <a:buChar char="•"/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Sales sees own customers and is refused (403, logged)</a:t>
            </a:r>
          </a:p>
          <a:p>
            <a:pPr algn="l" marL="352901" indent="-176451" lvl="1">
              <a:lnSpc>
                <a:spcPts val="2632"/>
              </a:lnSpc>
              <a:buFont typeface="Arial"/>
              <a:buChar char="•"/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Nothing is recorded until a person approves</a:t>
            </a:r>
          </a:p>
          <a:p>
            <a:pPr algn="l" marL="352901" indent="-176451" lvl="1">
              <a:lnSpc>
                <a:spcPts val="2632"/>
              </a:lnSpc>
              <a:buFont typeface="Arial"/>
              <a:buChar char="•"/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Audit log is hash-chained, with verify and export</a:t>
            </a:r>
          </a:p>
          <a:p>
            <a:pPr algn="l" marL="352901" indent="-176451" lvl="1">
              <a:lnSpc>
                <a:spcPts val="2632"/>
              </a:lnSpc>
              <a:buFont typeface="Arial"/>
              <a:buChar char="•"/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PDPA: keyed phone hash, retention limits, synthetic data only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77350" y="2746905"/>
            <a:ext cx="7791450" cy="4096150"/>
            <a:chOff x="0" y="0"/>
            <a:chExt cx="10388600" cy="5461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8600" cy="5461508"/>
            </a:xfrm>
            <a:custGeom>
              <a:avLst/>
              <a:gdLst/>
              <a:ahLst/>
              <a:cxnLst/>
              <a:rect r="r" b="b" t="t" l="l"/>
              <a:pathLst>
                <a:path h="5461508" w="1038860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10191242" y="0"/>
                  </a:lnTo>
                  <a:cubicBezTo>
                    <a:pt x="10300208" y="0"/>
                    <a:pt x="10388600" y="88392"/>
                    <a:pt x="10388600" y="197358"/>
                  </a:cubicBezTo>
                  <a:lnTo>
                    <a:pt x="10388600" y="5264150"/>
                  </a:lnTo>
                  <a:cubicBezTo>
                    <a:pt x="10388600" y="5373116"/>
                    <a:pt x="10300208" y="5461508"/>
                    <a:pt x="10191242" y="5461508"/>
                  </a:cubicBezTo>
                  <a:lnTo>
                    <a:pt x="197358" y="5461508"/>
                  </a:lnTo>
                  <a:cubicBezTo>
                    <a:pt x="88392" y="5461508"/>
                    <a:pt x="0" y="5373243"/>
                    <a:pt x="0" y="526415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590618" y="3060173"/>
            <a:ext cx="7379865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Orbyte fit and reuse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37684" y="3482969"/>
            <a:ext cx="7221369" cy="308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632"/>
              </a:lnSpc>
              <a:buFont typeface="Arial"/>
              <a:buChar char="•"/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Connector is on the live path: every receipt is scored against invoices it returns</a:t>
            </a:r>
          </a:p>
          <a:p>
            <a:pPr algn="l" marL="352901" indent="-176451" lvl="1">
              <a:lnSpc>
                <a:spcPts val="2632"/>
              </a:lnSpc>
              <a:buFont typeface="Arial"/>
              <a:buChar char="•"/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Every approval writes a payment and an activity event back</a:t>
            </a:r>
          </a:p>
          <a:p>
            <a:pPr algn="l" marL="352901" indent="-176451" lvl="1">
              <a:lnSpc>
                <a:spcPts val="2632"/>
              </a:lnSpc>
              <a:buFont typeface="Arial"/>
              <a:buChar char="•"/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Seven assumed endpoints; no public Orbyte API exists, so a mock stands in</a:t>
            </a:r>
          </a:p>
          <a:p>
            <a:pPr algn="l" marL="352901" indent="-176451" lvl="1">
              <a:lnSpc>
                <a:spcPts val="2632"/>
              </a:lnSpc>
              <a:buFont typeface="Arial"/>
              <a:buChar char="•"/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Same code serves 3 tenants: trader, bakery supplier, tuition centre</a:t>
            </a:r>
          </a:p>
          <a:p>
            <a:pPr algn="l" marL="352901" indent="-176451" lvl="1">
              <a:lnSpc>
                <a:spcPts val="2632"/>
              </a:lnSpc>
              <a:buFont typeface="Arial"/>
              <a:buChar char="•"/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Reusable: POST /v1/receipts/analyze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9200" y="9319289"/>
            <a:ext cx="11772900" cy="39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07A"/>
                </a:solidFill>
                <a:latin typeface="Inter"/>
                <a:ea typeface="Inter"/>
                <a:cs typeface="Inter"/>
                <a:sym typeface="Inter"/>
              </a:rPr>
              <a:t>Orbit · payment reconciliation for the Orbyte hub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58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5. Impact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929736"/>
            <a:ext cx="16325088" cy="51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Fewer manual steps, every payment human-approved. Supports SDG 8.2, 8.3 and SDG 9.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746905"/>
            <a:ext cx="7791450" cy="4665536"/>
            <a:chOff x="0" y="0"/>
            <a:chExt cx="10388600" cy="62207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88600" cy="6220714"/>
            </a:xfrm>
            <a:custGeom>
              <a:avLst/>
              <a:gdLst/>
              <a:ahLst/>
              <a:cxnLst/>
              <a:rect r="r" b="b" t="t" l="l"/>
              <a:pathLst>
                <a:path h="6220714" w="1038860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10191369" y="0"/>
                  </a:lnTo>
                  <a:cubicBezTo>
                    <a:pt x="10300335" y="0"/>
                    <a:pt x="10388600" y="88265"/>
                    <a:pt x="10388600" y="197231"/>
                  </a:cubicBezTo>
                  <a:lnTo>
                    <a:pt x="10388600" y="6023483"/>
                  </a:lnTo>
                  <a:cubicBezTo>
                    <a:pt x="10388600" y="6132449"/>
                    <a:pt x="10300335" y="6220714"/>
                    <a:pt x="10191369" y="6220714"/>
                  </a:cubicBezTo>
                  <a:lnTo>
                    <a:pt x="197231" y="6220714"/>
                  </a:lnTo>
                  <a:cubicBezTo>
                    <a:pt x="88265" y="6220714"/>
                    <a:pt x="0" y="6132449"/>
                    <a:pt x="0" y="602348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94368" y="3022073"/>
            <a:ext cx="7458351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Measured on 50 synthetic receipts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4368" y="3521069"/>
            <a:ext cx="7458351" cy="54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0"/>
              </a:lnSpc>
            </a:pPr>
            <a:r>
              <a:rPr lang="en-US" sz="39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47/50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4368" y="4027751"/>
            <a:ext cx="7458351" cy="41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classification accuracy (94%)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94368" y="4533500"/>
            <a:ext cx="7458351" cy="54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0"/>
              </a:lnSpc>
            </a:pPr>
            <a:r>
              <a:rPr lang="en-US" sz="39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94368" y="5040182"/>
            <a:ext cx="7458351" cy="41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confident wrong matches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94368" y="5545931"/>
            <a:ext cx="7458351" cy="54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0"/>
              </a:lnSpc>
            </a:pPr>
            <a:r>
              <a:rPr lang="en-US" sz="39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44%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94368" y="6052604"/>
            <a:ext cx="7458351" cy="41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auto-matched at score 90+; the rest go to a person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94368" y="6491688"/>
            <a:ext cx="7458351" cy="68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A607A"/>
                </a:solidFill>
                <a:latin typeface="Inter"/>
                <a:ea typeface="Inter"/>
                <a:cs typeface="Inter"/>
                <a:sym typeface="Inter"/>
              </a:rPr>
              <a:t>Extraction is 100% only by construction: the mock reads the labels. It is not a model measurement.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77350" y="2746905"/>
            <a:ext cx="7791450" cy="4665536"/>
            <a:chOff x="0" y="0"/>
            <a:chExt cx="10388600" cy="62207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88600" cy="6220714"/>
            </a:xfrm>
            <a:custGeom>
              <a:avLst/>
              <a:gdLst/>
              <a:ahLst/>
              <a:cxnLst/>
              <a:rect r="r" b="b" t="t" l="l"/>
              <a:pathLst>
                <a:path h="6220714" w="1038860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10191369" y="0"/>
                  </a:lnTo>
                  <a:cubicBezTo>
                    <a:pt x="10300335" y="0"/>
                    <a:pt x="10388600" y="88265"/>
                    <a:pt x="10388600" y="197231"/>
                  </a:cubicBezTo>
                  <a:lnTo>
                    <a:pt x="10388600" y="6023483"/>
                  </a:lnTo>
                  <a:cubicBezTo>
                    <a:pt x="10388600" y="6132449"/>
                    <a:pt x="10300335" y="6220714"/>
                    <a:pt x="10191369" y="6220714"/>
                  </a:cubicBezTo>
                  <a:lnTo>
                    <a:pt x="197231" y="6220714"/>
                  </a:lnTo>
                  <a:cubicBezTo>
                    <a:pt x="88265" y="6220714"/>
                    <a:pt x="0" y="6132449"/>
                    <a:pt x="0" y="602348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552518" y="3022073"/>
            <a:ext cx="7458351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Targets, not yet measured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52518" y="3511544"/>
            <a:ext cx="7458351" cy="51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~3 min → ~20 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52518" y="3985812"/>
            <a:ext cx="7458351" cy="41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per receipt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52518" y="4482046"/>
            <a:ext cx="7458351" cy="51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~6 h → ~1 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52518" y="4956305"/>
            <a:ext cx="7458351" cy="41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per week on reconciliation and chasing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52518" y="5452529"/>
            <a:ext cx="7458351" cy="51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100%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52518" y="5926798"/>
            <a:ext cx="7458351" cy="41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of overdue invoices touched on the ladder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52518" y="6365881"/>
            <a:ext cx="7458351" cy="37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A607A"/>
                </a:solidFill>
                <a:latin typeface="Inter"/>
                <a:ea typeface="Inter"/>
                <a:cs typeface="Inter"/>
                <a:sym typeface="Inter"/>
              </a:rPr>
              <a:t>Against an assumed manual baseline. A timed pilot is next.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9200" y="9319289"/>
            <a:ext cx="11772900" cy="39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07A"/>
                </a:solidFill>
                <a:latin typeface="Inter"/>
                <a:ea typeface="Inter"/>
                <a:cs typeface="Inter"/>
                <a:sym typeface="Inter"/>
              </a:rPr>
              <a:t>Orbit · payment reconciliation for the Orbyte hub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58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6. Feasibility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929736"/>
            <a:ext cx="16325088" cy="51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The core journey runs end to end on synthetic data, with its hardest risk named.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746905"/>
            <a:ext cx="5105400" cy="3904459"/>
            <a:chOff x="0" y="0"/>
            <a:chExt cx="6807200" cy="5205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07200" cy="5205984"/>
            </a:xfrm>
            <a:custGeom>
              <a:avLst/>
              <a:gdLst/>
              <a:ahLst/>
              <a:cxnLst/>
              <a:rect r="r" b="b" t="t" l="l"/>
              <a:pathLst>
                <a:path h="5205984" w="680720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6609842" y="0"/>
                  </a:lnTo>
                  <a:cubicBezTo>
                    <a:pt x="6718808" y="0"/>
                    <a:pt x="6807200" y="88392"/>
                    <a:pt x="6807200" y="197358"/>
                  </a:cubicBezTo>
                  <a:lnTo>
                    <a:pt x="6807200" y="5008626"/>
                  </a:lnTo>
                  <a:cubicBezTo>
                    <a:pt x="6807200" y="5117592"/>
                    <a:pt x="6718808" y="5205984"/>
                    <a:pt x="6609842" y="5205984"/>
                  </a:cubicBezTo>
                  <a:lnTo>
                    <a:pt x="197358" y="5205984"/>
                  </a:lnTo>
                  <a:cubicBezTo>
                    <a:pt x="88392" y="5205984"/>
                    <a:pt x="0" y="5117592"/>
                    <a:pt x="0" y="5008626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94368" y="3022073"/>
            <a:ext cx="4691720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Built and working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2005" y="3454394"/>
            <a:ext cx="4532652" cy="2316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Webhook to extraction, match, approval, ledger, audit</a:t>
            </a:r>
          </a:p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Chasing ladder with batch approval</a:t>
            </a:r>
          </a:p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3 tenants, 75 customers, 80 invoices, 50 receipts</a:t>
            </a:r>
          </a:p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40 automated tests, 25 documented API paths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91300" y="2746905"/>
            <a:ext cx="5105400" cy="3904459"/>
            <a:chOff x="0" y="0"/>
            <a:chExt cx="6807200" cy="52059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07200" cy="5205984"/>
            </a:xfrm>
            <a:custGeom>
              <a:avLst/>
              <a:gdLst/>
              <a:ahLst/>
              <a:cxnLst/>
              <a:rect r="r" b="b" t="t" l="l"/>
              <a:pathLst>
                <a:path h="5205984" w="680720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6609842" y="0"/>
                  </a:lnTo>
                  <a:cubicBezTo>
                    <a:pt x="6718808" y="0"/>
                    <a:pt x="6807200" y="88392"/>
                    <a:pt x="6807200" y="197358"/>
                  </a:cubicBezTo>
                  <a:lnTo>
                    <a:pt x="6807200" y="5008626"/>
                  </a:lnTo>
                  <a:cubicBezTo>
                    <a:pt x="6807200" y="5117592"/>
                    <a:pt x="6718808" y="5205984"/>
                    <a:pt x="6609842" y="5205984"/>
                  </a:cubicBezTo>
                  <a:lnTo>
                    <a:pt x="197358" y="5205984"/>
                  </a:lnTo>
                  <a:cubicBezTo>
                    <a:pt x="88392" y="5205984"/>
                    <a:pt x="0" y="5117592"/>
                    <a:pt x="0" y="5008626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6866468" y="3022073"/>
            <a:ext cx="4691720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Hardest risk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14105" y="3454394"/>
            <a:ext cx="4532652" cy="2959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WhatsApp Business API access (Meta verification)</a:t>
            </a:r>
          </a:p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Cloud API sender is written but never run against Meta</a:t>
            </a:r>
          </a:p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Fallback: simulator with the same payload, so only transport is stubbed</a:t>
            </a:r>
          </a:p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Live reminders need approved templates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963400" y="2746905"/>
            <a:ext cx="5105400" cy="3904459"/>
            <a:chOff x="0" y="0"/>
            <a:chExt cx="6807200" cy="52059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07200" cy="5205984"/>
            </a:xfrm>
            <a:custGeom>
              <a:avLst/>
              <a:gdLst/>
              <a:ahLst/>
              <a:cxnLst/>
              <a:rect r="r" b="b" t="t" l="l"/>
              <a:pathLst>
                <a:path h="5205984" w="680720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6609842" y="0"/>
                  </a:lnTo>
                  <a:cubicBezTo>
                    <a:pt x="6718808" y="0"/>
                    <a:pt x="6807200" y="88392"/>
                    <a:pt x="6807200" y="197358"/>
                  </a:cubicBezTo>
                  <a:lnTo>
                    <a:pt x="6807200" y="5008626"/>
                  </a:lnTo>
                  <a:cubicBezTo>
                    <a:pt x="6807200" y="5117592"/>
                    <a:pt x="6718808" y="5205984"/>
                    <a:pt x="6609842" y="5205984"/>
                  </a:cubicBezTo>
                  <a:lnTo>
                    <a:pt x="197358" y="5205984"/>
                  </a:lnTo>
                  <a:cubicBezTo>
                    <a:pt x="88392" y="5205984"/>
                    <a:pt x="0" y="5117592"/>
                    <a:pt x="0" y="5008626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238568" y="3022073"/>
            <a:ext cx="4691720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Next, stated plainly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86205" y="3454394"/>
            <a:ext cx="4532652" cy="2316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Pilot with 3–5 real SME owners</a:t>
            </a:r>
          </a:p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Real Meta test number</a:t>
            </a:r>
          </a:p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HTTP Orbyte connector if access is given</a:t>
            </a:r>
          </a:p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Daily scheduler for chasing</a:t>
            </a:r>
          </a:p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Not claimed: forged-receipt detection. Orbit never moves money.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9200" y="9319289"/>
            <a:ext cx="11772900" cy="39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07A"/>
                </a:solidFill>
                <a:latin typeface="Inter"/>
                <a:ea typeface="Inter"/>
                <a:cs typeface="Inter"/>
                <a:sym typeface="Inter"/>
              </a:rPr>
              <a:t>Orbit · payment reconciliation for the Orbyte hub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58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7. Implementation &amp; Growth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929746"/>
            <a:ext cx="16325088" cy="51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Prove it with a few SMEs, then widen what Orbit reconciles and where.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746905"/>
            <a:ext cx="5105400" cy="2429408"/>
            <a:chOff x="0" y="0"/>
            <a:chExt cx="6807200" cy="32392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07200" cy="3239135"/>
            </a:xfrm>
            <a:custGeom>
              <a:avLst/>
              <a:gdLst/>
              <a:ahLst/>
              <a:cxnLst/>
              <a:rect r="r" b="b" t="t" l="l"/>
              <a:pathLst>
                <a:path h="3239135" w="680720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6609588" y="0"/>
                  </a:lnTo>
                  <a:cubicBezTo>
                    <a:pt x="6718681" y="0"/>
                    <a:pt x="6807200" y="88519"/>
                    <a:pt x="6807200" y="197612"/>
                  </a:cubicBezTo>
                  <a:lnTo>
                    <a:pt x="6807200" y="3041523"/>
                  </a:lnTo>
                  <a:cubicBezTo>
                    <a:pt x="6807200" y="3150616"/>
                    <a:pt x="6718681" y="3239135"/>
                    <a:pt x="6609588" y="3239135"/>
                  </a:cubicBezTo>
                  <a:lnTo>
                    <a:pt x="197612" y="3239135"/>
                  </a:lnTo>
                  <a:cubicBezTo>
                    <a:pt x="88519" y="3239262"/>
                    <a:pt x="0" y="3150743"/>
                    <a:pt x="0" y="304152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94368" y="2983973"/>
            <a:ext cx="4691720" cy="39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PHASE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4368" y="3437334"/>
            <a:ext cx="4691720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Malaysian SMEs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4368" y="3860140"/>
            <a:ext cx="4691720" cy="107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Reconciliation and chasing, piloted with 3–5 businesses that invoice on credit.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591300" y="2746905"/>
            <a:ext cx="5105400" cy="2429408"/>
            <a:chOff x="0" y="0"/>
            <a:chExt cx="6807200" cy="32392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07200" cy="3239135"/>
            </a:xfrm>
            <a:custGeom>
              <a:avLst/>
              <a:gdLst/>
              <a:ahLst/>
              <a:cxnLst/>
              <a:rect r="r" b="b" t="t" l="l"/>
              <a:pathLst>
                <a:path h="3239135" w="680720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6609588" y="0"/>
                  </a:lnTo>
                  <a:cubicBezTo>
                    <a:pt x="6718681" y="0"/>
                    <a:pt x="6807200" y="88519"/>
                    <a:pt x="6807200" y="197612"/>
                  </a:cubicBezTo>
                  <a:lnTo>
                    <a:pt x="6807200" y="3041523"/>
                  </a:lnTo>
                  <a:cubicBezTo>
                    <a:pt x="6807200" y="3150616"/>
                    <a:pt x="6718681" y="3239135"/>
                    <a:pt x="6609588" y="3239135"/>
                  </a:cubicBezTo>
                  <a:lnTo>
                    <a:pt x="197612" y="3239135"/>
                  </a:lnTo>
                  <a:cubicBezTo>
                    <a:pt x="88519" y="3239262"/>
                    <a:pt x="0" y="3150743"/>
                    <a:pt x="0" y="304152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6866468" y="2983973"/>
            <a:ext cx="4691720" cy="39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PHASE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66468" y="3437334"/>
            <a:ext cx="4691720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More signals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66468" y="3860140"/>
            <a:ext cx="4691720" cy="107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Bank statement matching, e-invoice readiness checks (preparatory), cash-flow forecast.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963400" y="2746905"/>
            <a:ext cx="5105400" cy="2429408"/>
            <a:chOff x="0" y="0"/>
            <a:chExt cx="6807200" cy="32392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07200" cy="3239135"/>
            </a:xfrm>
            <a:custGeom>
              <a:avLst/>
              <a:gdLst/>
              <a:ahLst/>
              <a:cxnLst/>
              <a:rect r="r" b="b" t="t" l="l"/>
              <a:pathLst>
                <a:path h="3239135" w="680720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6609588" y="0"/>
                  </a:lnTo>
                  <a:cubicBezTo>
                    <a:pt x="6718681" y="0"/>
                    <a:pt x="6807200" y="88519"/>
                    <a:pt x="6807200" y="197612"/>
                  </a:cubicBezTo>
                  <a:lnTo>
                    <a:pt x="6807200" y="3041523"/>
                  </a:lnTo>
                  <a:cubicBezTo>
                    <a:pt x="6807200" y="3150616"/>
                    <a:pt x="6718681" y="3239135"/>
                    <a:pt x="6609588" y="3239135"/>
                  </a:cubicBezTo>
                  <a:lnTo>
                    <a:pt x="197612" y="3239135"/>
                  </a:lnTo>
                  <a:cubicBezTo>
                    <a:pt x="88519" y="3239262"/>
                    <a:pt x="0" y="3150743"/>
                    <a:pt x="0" y="304152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238568" y="2983973"/>
            <a:ext cx="4691720" cy="39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4338CA"/>
                </a:solidFill>
                <a:latin typeface="Inter Bold"/>
                <a:ea typeface="Inter Bold"/>
                <a:cs typeface="Inter Bold"/>
                <a:sym typeface="Inter Bold"/>
              </a:rPr>
              <a:t>PHASE 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38568" y="3437334"/>
            <a:ext cx="4691720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ASEAN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38568" y="3860140"/>
            <a:ext cx="4691720" cy="744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Local receipt formats and languages: PayNow, QRIS, PromptPay.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9200" y="5519204"/>
            <a:ext cx="15849600" cy="1679839"/>
            <a:chOff x="0" y="0"/>
            <a:chExt cx="21132800" cy="22397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132800" cy="2239772"/>
            </a:xfrm>
            <a:custGeom>
              <a:avLst/>
              <a:gdLst/>
              <a:ahLst/>
              <a:cxnLst/>
              <a:rect r="r" b="b" t="t" l="l"/>
              <a:pathLst>
                <a:path h="2239772" w="21132800">
                  <a:moveTo>
                    <a:pt x="0" y="197993"/>
                  </a:moveTo>
                  <a:cubicBezTo>
                    <a:pt x="0" y="88646"/>
                    <a:pt x="88646" y="0"/>
                    <a:pt x="197993" y="0"/>
                  </a:cubicBezTo>
                  <a:lnTo>
                    <a:pt x="20934807" y="0"/>
                  </a:lnTo>
                  <a:cubicBezTo>
                    <a:pt x="21044154" y="0"/>
                    <a:pt x="21132800" y="88646"/>
                    <a:pt x="21132800" y="197993"/>
                  </a:cubicBezTo>
                  <a:lnTo>
                    <a:pt x="21132800" y="2041779"/>
                  </a:lnTo>
                  <a:cubicBezTo>
                    <a:pt x="21132800" y="2151126"/>
                    <a:pt x="21044154" y="2239772"/>
                    <a:pt x="20934807" y="2239772"/>
                  </a:cubicBezTo>
                  <a:lnTo>
                    <a:pt x="197993" y="2239772"/>
                  </a:lnTo>
                  <a:cubicBezTo>
                    <a:pt x="88646" y="2239772"/>
                    <a:pt x="0" y="2151126"/>
                    <a:pt x="0" y="204177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DDD0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494368" y="5794372"/>
            <a:ext cx="15758246" cy="40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1B3A"/>
                </a:solidFill>
                <a:latin typeface="Inter Bold"/>
                <a:ea typeface="Inter Bold"/>
                <a:cs typeface="Inter Bold"/>
                <a:sym typeface="Inter Bold"/>
              </a:rPr>
              <a:t>Business model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94368" y="6217187"/>
            <a:ext cx="15758246" cy="744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61B3A"/>
                </a:solidFill>
                <a:latin typeface="Inter"/>
                <a:ea typeface="Inter"/>
                <a:cs typeface="Inter"/>
                <a:sym typeface="Inter"/>
              </a:rPr>
              <a:t>Freemium (first 30 receipts a month free), then per-tenant tiers by receipt volume, plus partner revenue share through Orbyte with QR payment and e-invoicing providers.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9200" y="9319289"/>
            <a:ext cx="11772900" cy="39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07A"/>
                </a:solidFill>
                <a:latin typeface="Inter"/>
                <a:ea typeface="Inter"/>
                <a:cs typeface="Inter"/>
                <a:sym typeface="Inter"/>
              </a:rPr>
              <a:t>Orbit · payment reconciliation for the Orbyte hub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58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F5B544"/>
                </a:solidFill>
                <a:latin typeface="Inter Bold"/>
                <a:ea typeface="Inter Bold"/>
                <a:cs typeface="Inter Bold"/>
                <a:sym typeface="Inter Bold"/>
              </a:rPr>
              <a:t>8. Why Orbit Should Win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929746"/>
            <a:ext cx="16325088" cy="51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 b="true">
                <a:solidFill>
                  <a:srgbClr val="EEF0FF"/>
                </a:solidFill>
                <a:latin typeface="Inter Bold"/>
                <a:ea typeface="Inter Bold"/>
                <a:cs typeface="Inter Bold"/>
                <a:sym typeface="Inter Bold"/>
              </a:rPr>
              <a:t>One recurring burden removed for Malaysian SMEs, with people in control.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2880255"/>
            <a:ext cx="525856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F5B544"/>
                </a:solidFill>
                <a:latin typeface="Inter Bold"/>
                <a:ea typeface="Inter Bold"/>
                <a:cs typeface="Inter Bold"/>
                <a:sym typeface="Inter Bold"/>
              </a:rPr>
              <a:t>Live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3708930"/>
            <a:ext cx="5258562" cy="42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A8AFD6"/>
                </a:solidFill>
                <a:latin typeface="Inter"/>
                <a:ea typeface="Inter"/>
                <a:cs typeface="Inter"/>
                <a:sym typeface="Inter"/>
              </a:rPr>
              <a:t>core journey, end to 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91300" y="2880255"/>
            <a:ext cx="525856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F5B544"/>
                </a:solidFill>
                <a:latin typeface="Inter Bold"/>
                <a:ea typeface="Inter Bold"/>
                <a:cs typeface="Inter Bold"/>
                <a:sym typeface="Inter Bold"/>
              </a:rPr>
              <a:t>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91300" y="3708930"/>
            <a:ext cx="5372100" cy="42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A8AFD6"/>
                </a:solidFill>
                <a:latin typeface="Inter"/>
                <a:ea typeface="Inter"/>
                <a:cs typeface="Inter"/>
                <a:sym typeface="Inter"/>
              </a:rPr>
              <a:t>confident wrong matches on 50 receipts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63400" y="2880255"/>
            <a:ext cx="525856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F5B544"/>
                </a:solidFill>
                <a:latin typeface="Inter Bold"/>
                <a:ea typeface="Inter Bold"/>
                <a:cs typeface="Inter Bold"/>
                <a:sym typeface="Inter Bold"/>
              </a:rPr>
              <a:t>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63400" y="3708930"/>
            <a:ext cx="6126480" cy="42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A8AFD6"/>
                </a:solidFill>
                <a:latin typeface="Inter"/>
                <a:ea typeface="Inter"/>
                <a:cs typeface="Inter"/>
                <a:sym typeface="Inter"/>
              </a:rPr>
              <a:t>Orbyte endpoints behind one connector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9200" y="4459424"/>
            <a:ext cx="16325088" cy="720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800" b="true">
                <a:solidFill>
                  <a:srgbClr val="EEF0FF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9200" y="9319289"/>
            <a:ext cx="11772900" cy="39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8AFD6"/>
                </a:solidFill>
                <a:latin typeface="Inter"/>
                <a:ea typeface="Inter"/>
                <a:cs typeface="Inter"/>
                <a:sym typeface="Inter"/>
              </a:rPr>
              <a:t>Orbit · payment reconciliation for the Orbyte 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DAHY9NxmIV4</dc:identifier>
  <dcterms:modified xsi:type="dcterms:W3CDTF">2011-08-01T06:04:30Z</dcterms:modified>
  <cp:revision>1</cp:revision>
  <dc:title>Orbit — Pitch Deck.pptx</dc:title>
</cp:coreProperties>
</file>